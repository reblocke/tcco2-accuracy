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1"/>
  </p:sldMasterIdLst>
  <p:notesMasterIdLst>
    <p:notesMasterId r:id="rId17"/>
  </p:notesMasterIdLst>
  <p:sldIdLst>
    <p:sldId id="256" r:id="rId2"/>
    <p:sldId id="277" r:id="rId3"/>
    <p:sldId id="274" r:id="rId4"/>
    <p:sldId id="257" r:id="rId5"/>
    <p:sldId id="261" r:id="rId6"/>
    <p:sldId id="278" r:id="rId7"/>
    <p:sldId id="279" r:id="rId8"/>
    <p:sldId id="280" r:id="rId9"/>
    <p:sldId id="281" r:id="rId10"/>
    <p:sldId id="284" r:id="rId11"/>
    <p:sldId id="286" r:id="rId12"/>
    <p:sldId id="287" r:id="rId13"/>
    <p:sldId id="282" r:id="rId14"/>
    <p:sldId id="288" r:id="rId15"/>
    <p:sldId id="272" r:id="rId16"/>
  </p:sldIdLst>
  <p:sldSz cx="9144000" cy="5143500" type="screen16x9"/>
  <p:notesSz cx="6858000" cy="9144000"/>
  <p:custDataLst>
    <p:tags r:id="rId18"/>
  </p:custDataLst>
  <p:defaultTextStyle>
    <a:defPPr>
      <a:defRPr lang="en-US"/>
    </a:defPPr>
    <a:lvl1pPr marL="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pos="5496" userDrawn="1">
          <p15:clr>
            <a:srgbClr val="A4A3A4"/>
          </p15:clr>
        </p15:guide>
        <p15:guide id="4" orient="horz" pos="11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2C51"/>
    <a:srgbClr val="E9ECF5"/>
    <a:srgbClr val="FF0000"/>
    <a:srgbClr val="4472C4"/>
    <a:srgbClr val="54585A"/>
    <a:srgbClr val="787B7D"/>
    <a:srgbClr val="FFFFFF"/>
    <a:srgbClr val="000000"/>
    <a:srgbClr val="A2AA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12"/>
    <p:restoredTop sz="94643"/>
  </p:normalViewPr>
  <p:slideViewPr>
    <p:cSldViewPr snapToGrid="0" snapToObjects="1" showGuides="1">
      <p:cViewPr varScale="1">
        <p:scale>
          <a:sx n="180" d="100"/>
          <a:sy n="180" d="100"/>
        </p:scale>
        <p:origin x="832" y="176"/>
      </p:cViewPr>
      <p:guideLst>
        <p:guide orient="horz" pos="708"/>
        <p:guide pos="192"/>
        <p:guide pos="5496"/>
        <p:guide orient="horz" pos="11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91AF08-C1E2-9242-807F-03545FDCB114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7FDB3FF9-1B6C-B34A-901E-8CA9C4A76C7F}">
      <dgm:prSet phldrT="[Text]" custT="1"/>
      <dgm:spPr>
        <a:solidFill>
          <a:srgbClr val="0E0062"/>
        </a:solidFill>
      </dgm:spPr>
      <dgm:t>
        <a:bodyPr/>
        <a:lstStyle/>
        <a:p>
          <a:r>
            <a:rPr lang="en-US" sz="1050" b="1" u="sng" dirty="0" err="1"/>
            <a:t>TriNetX</a:t>
          </a:r>
          <a:r>
            <a:rPr lang="en-US" sz="1050" b="1" u="sng" dirty="0"/>
            <a:t> Database</a:t>
          </a:r>
          <a:endParaRPr lang="en-US" sz="1050" dirty="0"/>
        </a:p>
        <a:p>
          <a:r>
            <a:rPr lang="en-US" sz="1050" dirty="0"/>
            <a:t>- All encounters with an ABG 01/01/22 – 12/31/22</a:t>
          </a:r>
        </a:p>
      </dgm:t>
    </dgm:pt>
    <dgm:pt modelId="{459173B3-C292-DE4C-88E3-8695CFCBFC7B}" type="parTrans" cxnId="{90145210-4CB8-234A-9124-9DDF889A51B7}">
      <dgm:prSet/>
      <dgm:spPr/>
      <dgm:t>
        <a:bodyPr/>
        <a:lstStyle/>
        <a:p>
          <a:endParaRPr lang="en-US"/>
        </a:p>
      </dgm:t>
    </dgm:pt>
    <dgm:pt modelId="{1F739250-5918-C74E-9F30-C741C3DD858C}" type="sibTrans" cxnId="{90145210-4CB8-234A-9124-9DDF889A51B7}">
      <dgm:prSet custT="1"/>
      <dgm:spPr>
        <a:solidFill>
          <a:schemeClr val="tx1"/>
        </a:solidFill>
      </dgm:spPr>
      <dgm:t>
        <a:bodyPr/>
        <a:lstStyle/>
        <a:p>
          <a:endParaRPr lang="en-US" sz="4000"/>
        </a:p>
      </dgm:t>
    </dgm:pt>
    <dgm:pt modelId="{79C4A986-283C-9E40-B379-049A17D12243}" type="pres">
      <dgm:prSet presAssocID="{B891AF08-C1E2-9242-807F-03545FDCB114}" presName="Name0" presStyleCnt="0">
        <dgm:presLayoutVars>
          <dgm:dir/>
          <dgm:resizeHandles val="exact"/>
        </dgm:presLayoutVars>
      </dgm:prSet>
      <dgm:spPr/>
    </dgm:pt>
    <dgm:pt modelId="{896C53E8-46D3-1C46-992A-503FF6815B43}" type="pres">
      <dgm:prSet presAssocID="{7FDB3FF9-1B6C-B34A-901E-8CA9C4A76C7F}" presName="node" presStyleLbl="node1" presStyleIdx="0" presStyleCnt="1" custFlipHor="1" custScaleX="37397">
        <dgm:presLayoutVars>
          <dgm:bulletEnabled val="1"/>
        </dgm:presLayoutVars>
      </dgm:prSet>
      <dgm:spPr/>
    </dgm:pt>
  </dgm:ptLst>
  <dgm:cxnLst>
    <dgm:cxn modelId="{90145210-4CB8-234A-9124-9DDF889A51B7}" srcId="{B891AF08-C1E2-9242-807F-03545FDCB114}" destId="{7FDB3FF9-1B6C-B34A-901E-8CA9C4A76C7F}" srcOrd="0" destOrd="0" parTransId="{459173B3-C292-DE4C-88E3-8695CFCBFC7B}" sibTransId="{1F739250-5918-C74E-9F30-C741C3DD858C}"/>
    <dgm:cxn modelId="{AC56CB6D-471E-6C49-9D9C-F034E4E60AC3}" type="presOf" srcId="{B891AF08-C1E2-9242-807F-03545FDCB114}" destId="{79C4A986-283C-9E40-B379-049A17D12243}" srcOrd="0" destOrd="0" presId="urn:microsoft.com/office/officeart/2005/8/layout/process1"/>
    <dgm:cxn modelId="{092390A1-C858-2942-B601-70835962410F}" type="presOf" srcId="{7FDB3FF9-1B6C-B34A-901E-8CA9C4A76C7F}" destId="{896C53E8-46D3-1C46-992A-503FF6815B43}" srcOrd="0" destOrd="0" presId="urn:microsoft.com/office/officeart/2005/8/layout/process1"/>
    <dgm:cxn modelId="{78DD79A7-553D-2946-ADD0-3D2B0592231C}" type="presParOf" srcId="{79C4A986-283C-9E40-B379-049A17D12243}" destId="{896C53E8-46D3-1C46-992A-503FF6815B43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6C53E8-46D3-1C46-992A-503FF6815B43}">
      <dsp:nvSpPr>
        <dsp:cNvPr id="0" name=""/>
        <dsp:cNvSpPr/>
      </dsp:nvSpPr>
      <dsp:spPr>
        <a:xfrm flipH="1">
          <a:off x="759589" y="0"/>
          <a:ext cx="906092" cy="1429429"/>
        </a:xfrm>
        <a:prstGeom prst="roundRect">
          <a:avLst>
            <a:gd name="adj" fmla="val 10000"/>
          </a:avLst>
        </a:prstGeom>
        <a:solidFill>
          <a:srgbClr val="0E006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u="sng" kern="1200" dirty="0" err="1"/>
            <a:t>TriNetX</a:t>
          </a:r>
          <a:r>
            <a:rPr lang="en-US" sz="1050" b="1" u="sng" kern="1200" dirty="0"/>
            <a:t> Database</a:t>
          </a:r>
          <a:endParaRPr lang="en-US" sz="1050" kern="1200" dirty="0"/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- All encounters with an ABG 01/01/22 – 12/31/22</a:t>
          </a:r>
        </a:p>
      </dsp:txBody>
      <dsp:txXfrm>
        <a:off x="786128" y="26539"/>
        <a:ext cx="853014" cy="13763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80254-5AF7-4D44-B228-0B506ABBDDDA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BD454-EF88-7F45-865C-CB58B1615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844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BD454-EF88-7F45-865C-CB58B161503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238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www.qrcode-monkey.com</a:t>
            </a:r>
            <a:r>
              <a:rPr lang="en-US" dirty="0"/>
              <a:t> used for QR code to my </a:t>
            </a:r>
            <a:r>
              <a:rPr lang="en-US" dirty="0" err="1"/>
              <a:t>github</a:t>
            </a:r>
            <a:r>
              <a:rPr lang="en-US" dirty="0"/>
              <a:t> https://</a:t>
            </a:r>
            <a:r>
              <a:rPr lang="en-US" dirty="0" err="1"/>
              <a:t>github.com</a:t>
            </a:r>
            <a:r>
              <a:rPr lang="en-US" dirty="0"/>
              <a:t>/danderson38/TcCO2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BD454-EF88-7F45-865C-CB58B161503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50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BD454-EF88-7F45-865C-CB58B161503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442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47F05-940D-0251-FA7A-27F5A93F5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D00CA4-8A3A-B384-38DE-F387EF113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4E1B1-BED9-3EF1-B8E7-0E0B9D17A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BC55D-8C25-191D-87C6-FB8144C5A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BD454-EF88-7F45-865C-CB58B161503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30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76BDA-87E0-8345-113F-5C7E62C38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5DB500-63BB-E3AC-9157-82C6B125F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F7BB59-5034-4DAD-36AE-D6D7F07F1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67DE8-50B8-B7CF-AFBF-386B7A31FC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BD454-EF88-7F45-865C-CB58B161503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21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1A08C2D-8605-A641-9CF4-8FE0E373A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1629578"/>
            <a:ext cx="8496300" cy="1133232"/>
          </a:xfrm>
        </p:spPr>
        <p:txBody>
          <a:bodyPr tIns="0" bIns="0" anchor="t">
            <a:normAutofit/>
          </a:bodyPr>
          <a:lstStyle>
            <a:lvl1pPr algn="ctr">
              <a:lnSpc>
                <a:spcPts val="3096"/>
              </a:lnSpc>
              <a:defRPr sz="2800" b="1" cap="none">
                <a:solidFill>
                  <a:srgbClr val="54585A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7E426C7-FADC-504A-92CB-1438D033D76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11781" y="2977891"/>
            <a:ext cx="8489320" cy="1500187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54585A"/>
                </a:solidFill>
              </a:defRPr>
            </a:lvl1pPr>
            <a:lvl2pPr marL="411476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52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0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56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3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07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E837657-2F26-0E4B-98BA-BF6093A66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EF03813-80EA-5342-A74D-B85153AC1B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1781" y="4767263"/>
            <a:ext cx="30861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Copyright © 2021 American College of Chest Physicians.</a:t>
            </a:r>
          </a:p>
        </p:txBody>
      </p:sp>
    </p:spTree>
    <p:extLst>
      <p:ext uri="{BB962C8B-B14F-4D97-AF65-F5344CB8AC3E}">
        <p14:creationId xmlns:p14="http://schemas.microsoft.com/office/powerpoint/2010/main" val="3670004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2F141E4-8077-7948-A1A9-DC2C0EE4C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614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Custom Title and Imag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80" y="224479"/>
            <a:ext cx="7886700" cy="6073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779153-D495-984E-9843-03C5FF9B9928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r="531"/>
          <a:stretch/>
        </p:blipFill>
        <p:spPr>
          <a:xfrm>
            <a:off x="0" y="-1"/>
            <a:ext cx="9144000" cy="10470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DC5E82-5A97-794E-BE98-816796D15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557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1_Custom Title and Imag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D397FA-819A-E047-8270-1E0829D99E1D}"/>
              </a:ext>
            </a:extLst>
          </p:cNvPr>
          <p:cNvSpPr/>
          <p:nvPr userDrawn="1"/>
        </p:nvSpPr>
        <p:spPr>
          <a:xfrm>
            <a:off x="0" y="-888"/>
            <a:ext cx="9144000" cy="51443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80" y="224479"/>
            <a:ext cx="7886700" cy="6073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779153-D495-984E-9843-03C5FF9B9928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r="531"/>
          <a:stretch/>
        </p:blipFill>
        <p:spPr>
          <a:xfrm>
            <a:off x="0" y="-1"/>
            <a:ext cx="9144000" cy="10470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DC5E82-5A97-794E-BE98-816796D15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033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DB2552-993E-1E4D-8B66-849CE003BF37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r="531"/>
          <a:stretch/>
        </p:blipFill>
        <p:spPr>
          <a:xfrm>
            <a:off x="0" y="-1"/>
            <a:ext cx="9144000" cy="104703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4A6EDE-3FA0-A74F-8F55-37644C15E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840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5F9A44C-786F-C94F-B35F-3F2987CC7371}"/>
              </a:ext>
            </a:extLst>
          </p:cNvPr>
          <p:cNvSpPr/>
          <p:nvPr userDrawn="1"/>
        </p:nvSpPr>
        <p:spPr>
          <a:xfrm>
            <a:off x="0" y="-888"/>
            <a:ext cx="9144000" cy="51443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DB2552-993E-1E4D-8B66-849CE003BF37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r="531"/>
          <a:stretch/>
        </p:blipFill>
        <p:spPr>
          <a:xfrm>
            <a:off x="0" y="-1"/>
            <a:ext cx="9144000" cy="104703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4A6EDE-3FA0-A74F-8F55-37644C15E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59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5F9A44C-786F-C94F-B35F-3F2987CC7371}"/>
              </a:ext>
            </a:extLst>
          </p:cNvPr>
          <p:cNvSpPr/>
          <p:nvPr userDrawn="1"/>
        </p:nvSpPr>
        <p:spPr>
          <a:xfrm>
            <a:off x="0" y="-888"/>
            <a:ext cx="9144000" cy="51443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DB2552-993E-1E4D-8B66-849CE003BF37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r="531"/>
          <a:stretch/>
        </p:blipFill>
        <p:spPr>
          <a:xfrm>
            <a:off x="0" y="-1"/>
            <a:ext cx="9144000" cy="104703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4A6EDE-3FA0-A74F-8F55-37644C15E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5BCE04-FCFE-4340-9260-9F7B200A5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7" y="405031"/>
            <a:ext cx="8487632" cy="6073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BFF7BA1-D39F-DD4E-8701-6013F50DE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80" y="1116739"/>
            <a:ext cx="8486749" cy="274287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5654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0896" y="1078992"/>
            <a:ext cx="8487632" cy="607322"/>
          </a:xfrm>
          <a:prstGeom prst="rect">
            <a:avLst/>
          </a:prstGeom>
        </p:spPr>
        <p:txBody>
          <a:bodyPr vert="horz" lIns="0" tIns="45720" rIns="0" bIns="4572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79" y="1790700"/>
            <a:ext cx="8486749" cy="274287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206153-AF43-3F43-86BE-B3737D5A2A13}"/>
              </a:ext>
            </a:extLst>
          </p:cNvPr>
          <p:cNvPicPr>
            <a:picLocks/>
          </p:cNvPicPr>
          <p:nvPr userDrawn="1"/>
        </p:nvPicPr>
        <p:blipFill rotWithShape="1">
          <a:blip r:embed="rId9"/>
          <a:srcRect r="531"/>
          <a:stretch/>
        </p:blipFill>
        <p:spPr>
          <a:xfrm>
            <a:off x="0" y="799900"/>
            <a:ext cx="9144000" cy="731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BF9B6A-F49A-8744-964F-DB2BEEEE3C1A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10896" y="242468"/>
            <a:ext cx="1782981" cy="30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69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2" r:id="rId3"/>
    <p:sldLayoutId id="2147483664" r:id="rId4"/>
    <p:sldLayoutId id="2147483663" r:id="rId5"/>
    <p:sldLayoutId id="2147483665" r:id="rId6"/>
    <p:sldLayoutId id="2147483666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54585A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34950" indent="-234950" algn="l" defTabSz="685800" rtl="0" eaLnBrk="1" latinLnBrk="0" hangingPunct="1">
        <a:lnSpc>
          <a:spcPct val="100000"/>
        </a:lnSpc>
        <a:spcBef>
          <a:spcPts val="600"/>
        </a:spcBef>
        <a:buClr>
          <a:srgbClr val="4698CB"/>
        </a:buClr>
        <a:buFont typeface="Wingdings" pitchFamily="2" charset="2"/>
        <a:buChar char="§"/>
        <a:tabLst/>
        <a:defRPr sz="1800" kern="1200" baseline="0">
          <a:solidFill>
            <a:srgbClr val="54585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-222250" algn="l" defTabSz="685800" rtl="0" eaLnBrk="1" latinLnBrk="0" hangingPunct="1">
        <a:lnSpc>
          <a:spcPct val="100000"/>
        </a:lnSpc>
        <a:spcBef>
          <a:spcPts val="600"/>
        </a:spcBef>
        <a:buClr>
          <a:srgbClr val="4698CB"/>
        </a:buClr>
        <a:buFont typeface="System Font Regular"/>
        <a:buChar char="-"/>
        <a:tabLst/>
        <a:defRPr sz="1800" kern="1200" baseline="0">
          <a:solidFill>
            <a:srgbClr val="54585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04863" indent="-288925" algn="l" defTabSz="685800" rtl="0" eaLnBrk="1" latinLnBrk="0" hangingPunct="1">
        <a:lnSpc>
          <a:spcPct val="100000"/>
        </a:lnSpc>
        <a:spcBef>
          <a:spcPts val="600"/>
        </a:spcBef>
        <a:buClr>
          <a:srgbClr val="4698CB"/>
        </a:buClr>
        <a:buSzPct val="90000"/>
        <a:buFont typeface="Lucida Grande" panose="020B0600040502020204" pitchFamily="34" charset="0"/>
        <a:buChar char="✓"/>
        <a:tabLst/>
        <a:defRPr sz="1800" kern="1200" baseline="0">
          <a:solidFill>
            <a:srgbClr val="54585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rgbClr val="54585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rgbClr val="54585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84" userDrawn="1">
          <p15:clr>
            <a:srgbClr val="F26B43"/>
          </p15:clr>
        </p15:guide>
        <p15:guide id="2" pos="192" userDrawn="1">
          <p15:clr>
            <a:srgbClr val="F26B43"/>
          </p15:clr>
        </p15:guide>
        <p15:guide id="3" orient="horz" pos="1212" userDrawn="1">
          <p15:clr>
            <a:srgbClr val="F26B43"/>
          </p15:clr>
        </p15:guide>
        <p15:guide id="4" pos="55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2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6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5.png"/><Relationship Id="rId4" Type="http://schemas.openxmlformats.org/officeDocument/2006/relationships/diagramData" Target="../diagrams/data1.xml"/><Relationship Id="rId9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E0C8A-2746-494F-8C1B-CF6E8E27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44" y="1076447"/>
            <a:ext cx="8496300" cy="1133232"/>
          </a:xfrm>
        </p:spPr>
        <p:txBody>
          <a:bodyPr>
            <a:normAutofit fontScale="90000"/>
          </a:bodyPr>
          <a:lstStyle/>
          <a:p>
            <a:r>
              <a:rPr lang="en-US" dirty="0"/>
              <a:t>Session 482 - Strategies to Improve Care for Advanced Chronic Respiratory Diseases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0" dirty="0"/>
              <a:t>SIMULATION SUGGESTS TRANSCUTANEOUS CO2 SENSORS MAY ACCURATELY DETECT HYPERCAPNIA ACROSS SETTINGS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2866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E0C8A-2746-494F-8C1B-CF6E8E27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143" y="2239980"/>
            <a:ext cx="4935741" cy="663540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Dustin Anderson-Bell</a:t>
            </a:r>
            <a:r>
              <a:rPr lang="en-US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MD</a:t>
            </a:r>
            <a:br>
              <a:rPr lang="en-US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400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</a:br>
            <a:endParaRPr lang="en-US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3F641-5E4F-F147-B4A5-287C6AD8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37143" y="2571750"/>
            <a:ext cx="5296183" cy="961832"/>
          </a:xfrm>
        </p:spPr>
        <p:txBody>
          <a:bodyPr>
            <a:norm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effectLst/>
                <a:ea typeface="Verdana" panose="020B0604030504040204" pitchFamily="34" charset="0"/>
              </a:rPr>
              <a:t>Fellow of Pulmonary and Critical Care Medicine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effectLst/>
                <a:ea typeface="Verdana" panose="020B0604030504040204" pitchFamily="34" charset="0"/>
              </a:rPr>
              <a:t>University of Utah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effectLst/>
                <a:ea typeface="Verdana" panose="020B0604030504040204" pitchFamily="34" charset="0"/>
              </a:rPr>
              <a:t>Intermountain Medical Center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ea typeface="Verdana" panose="020B0604030504040204" pitchFamily="34" charset="0"/>
              </a:rPr>
              <a:t>George E Wahlen Veterans’ Affairs Medical Center</a:t>
            </a:r>
            <a:endParaRPr lang="en-US" sz="1050" dirty="0">
              <a:effectLst/>
              <a:ea typeface="Verdana" panose="020B0604030504040204" pitchFamily="34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effectLst/>
                <a:ea typeface="Verdana" panose="020B0604030504040204" pitchFamily="34" charset="0"/>
              </a:rPr>
              <a:t>Salt Lake City, Utah</a:t>
            </a:r>
          </a:p>
          <a:p>
            <a:pPr algn="l"/>
            <a:r>
              <a:rPr lang="en-US" sz="1050" b="1" dirty="0"/>
              <a:t>Disclosure</a:t>
            </a:r>
            <a:r>
              <a:rPr lang="en-US" sz="1050" dirty="0"/>
              <a:t>: None.</a:t>
            </a:r>
          </a:p>
          <a:p>
            <a:pPr algn="l"/>
            <a:endParaRPr lang="en-US" sz="900" dirty="0"/>
          </a:p>
          <a:p>
            <a:pPr algn="l"/>
            <a:endParaRPr lang="en-US" sz="900" dirty="0"/>
          </a:p>
          <a:p>
            <a:pPr algn="l"/>
            <a:endParaRPr lang="en-US" sz="900" dirty="0"/>
          </a:p>
        </p:txBody>
      </p:sp>
      <p:pic>
        <p:nvPicPr>
          <p:cNvPr id="7" name="Picture 6" descr="A person in a white coat&#10;&#10;Description automatically generated">
            <a:extLst>
              <a:ext uri="{FF2B5EF4-FFF2-40B4-BE49-F238E27FC236}">
                <a16:creationId xmlns:a16="http://schemas.microsoft.com/office/drawing/2014/main" id="{E8D1C91F-1221-8E54-CD88-0301BE3AF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1517649"/>
            <a:ext cx="2319867" cy="27939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27387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20DB0-47DA-D9F6-81D7-EA9B20902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Disclosure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5357B-3263-EE8E-008A-FB49631DE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research was supported by funding from </a:t>
            </a:r>
          </a:p>
          <a:p>
            <a:pPr lvl="1"/>
            <a:r>
              <a:rPr lang="en-US" dirty="0"/>
              <a:t>The National Institutes of Health under Ruth L. Kirschstein National Research Service Award 5T32HL105321</a:t>
            </a:r>
          </a:p>
          <a:p>
            <a:pPr lvl="1"/>
            <a:r>
              <a:rPr lang="en-US" dirty="0"/>
              <a:t>NCATSs Award UM1TR004409</a:t>
            </a:r>
          </a:p>
          <a:p>
            <a:pPr lvl="1"/>
            <a:r>
              <a:rPr lang="en-US" dirty="0"/>
              <a:t>The Intermountain Foundation</a:t>
            </a:r>
          </a:p>
        </p:txBody>
      </p:sp>
    </p:spTree>
    <p:extLst>
      <p:ext uri="{BB962C8B-B14F-4D97-AF65-F5344CB8AC3E}">
        <p14:creationId xmlns:p14="http://schemas.microsoft.com/office/powerpoint/2010/main" val="3059490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D783-64FB-884D-AB04-9CBA5A263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BBDB4-D6F6-8445-9FFE-3D3364BFF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arterial sampling for detection of hypercapnia is problematic</a:t>
            </a:r>
          </a:p>
          <a:p>
            <a:r>
              <a:rPr lang="en-US" dirty="0"/>
              <a:t>Simulated estimates of test characteristics of Transcutaneous CO2  (TcCO2)</a:t>
            </a:r>
          </a:p>
          <a:p>
            <a:r>
              <a:rPr lang="en-US" dirty="0"/>
              <a:t>Two-step strategy for using TcCO2 results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4342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247BE-B605-2F4B-ADC1-5DE2D4113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2D3D64-7A7A-435A-9889-8A426FEAA10D}"/>
              </a:ext>
            </a:extLst>
          </p:cNvPr>
          <p:cNvSpPr txBox="1">
            <a:spLocks/>
          </p:cNvSpPr>
          <p:nvPr/>
        </p:nvSpPr>
        <p:spPr>
          <a:xfrm>
            <a:off x="286327" y="710357"/>
            <a:ext cx="8486749" cy="3768774"/>
          </a:xfrm>
          <a:prstGeom prst="rect">
            <a:avLst/>
          </a:prstGeom>
        </p:spPr>
        <p:txBody>
          <a:bodyPr/>
          <a:lstStyle>
            <a:lvl1pPr marL="234950" indent="-2349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Wingdings" pitchFamily="2" charset="2"/>
              <a:buChar char="§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22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System Font Regular"/>
              <a:buChar char="-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88925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SzPct val="90000"/>
              <a:buFont typeface="Lucida Grande" panose="020B0600040502020204" pitchFamily="34" charset="0"/>
              <a:buChar char="✓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sng" dirty="0"/>
              <a:t>Problem: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Hypercapnia is widespread (~15% of CAP admissions</a:t>
            </a:r>
            <a:r>
              <a:rPr lang="en-US" baseline="30000" dirty="0"/>
              <a:t>1</a:t>
            </a:r>
            <a:r>
              <a:rPr lang="en-US" dirty="0"/>
              <a:t>, 43% of ARDS</a:t>
            </a:r>
            <a:r>
              <a:rPr lang="en-US" baseline="30000" dirty="0"/>
              <a:t>2</a:t>
            </a:r>
            <a:r>
              <a:rPr lang="en-US" dirty="0"/>
              <a:t>) and consequential </a:t>
            </a:r>
            <a:r>
              <a:rPr lang="en-US" dirty="0">
                <a:highlight>
                  <a:srgbClr val="FFFF00"/>
                </a:highlight>
              </a:rPr>
              <a:t>(60 day mortality of 12% to 28%</a:t>
            </a:r>
            <a:r>
              <a:rPr lang="en-US" baseline="30000" dirty="0">
                <a:highlight>
                  <a:srgbClr val="FFFF00"/>
                </a:highlight>
              </a:rPr>
              <a:t>3</a:t>
            </a:r>
            <a:r>
              <a:rPr lang="en-US" dirty="0">
                <a:highlight>
                  <a:srgbClr val="FFFF00"/>
                </a:highlight>
              </a:rPr>
              <a:t>).</a:t>
            </a:r>
          </a:p>
          <a:p>
            <a:pPr lvl="1"/>
            <a:r>
              <a:rPr lang="en-US" dirty="0"/>
              <a:t>Barriers to reliable identification: Arterial sampling requires expertise and can be painful with possible complications.</a:t>
            </a:r>
            <a:r>
              <a:rPr lang="en-US" baseline="30000" dirty="0"/>
              <a:t>4</a:t>
            </a:r>
          </a:p>
          <a:p>
            <a:pPr lvl="2">
              <a:buFont typeface="Wingdings" pitchFamily="2" charset="2"/>
              <a:buChar char="Ø"/>
            </a:pPr>
            <a:r>
              <a:rPr lang="en-US" baseline="30000" dirty="0"/>
              <a:t>Impacts clinical practice (missed diagnoses) and research (difficult to ascertain prevalence).</a:t>
            </a:r>
            <a:endParaRPr lang="en-US" dirty="0"/>
          </a:p>
          <a:p>
            <a:r>
              <a:rPr lang="en-US" b="1" u="sng" dirty="0"/>
              <a:t>Gap: </a:t>
            </a:r>
          </a:p>
          <a:p>
            <a:pPr lvl="1"/>
            <a:r>
              <a:rPr lang="en-US" dirty="0"/>
              <a:t>TcCO2 may allow for greater sampling of CO2 without the downfalls of ABGs but its performance in different settings isn’t known.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38BB74-05EA-C8FB-B354-3B3A1F2026FB}"/>
              </a:ext>
            </a:extLst>
          </p:cNvPr>
          <p:cNvSpPr txBox="1"/>
          <p:nvPr/>
        </p:nvSpPr>
        <p:spPr>
          <a:xfrm>
            <a:off x="0" y="4404836"/>
            <a:ext cx="127470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1 - PMID: 22677348</a:t>
            </a:r>
          </a:p>
          <a:p>
            <a:r>
              <a:rPr lang="en-US" sz="1050" dirty="0"/>
              <a:t>2 - PMID: 32589951</a:t>
            </a:r>
          </a:p>
          <a:p>
            <a:r>
              <a:rPr lang="en-US" sz="1050" dirty="0">
                <a:highlight>
                  <a:srgbClr val="FFFF00"/>
                </a:highlight>
              </a:rPr>
              <a:t>3 - PMID: 22586805</a:t>
            </a:r>
          </a:p>
          <a:p>
            <a:r>
              <a:rPr lang="en-US" sz="1050" dirty="0"/>
              <a:t>4 - PMID: 26628461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0768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78E72-363B-6D4B-1198-68B13AE6D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F959C-017F-221C-3874-5C224076E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Relevant prior work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A3404FD-C75F-7E4E-A722-9B2240DF5C4D}"/>
              </a:ext>
            </a:extLst>
          </p:cNvPr>
          <p:cNvSpPr txBox="1">
            <a:spLocks/>
          </p:cNvSpPr>
          <p:nvPr/>
        </p:nvSpPr>
        <p:spPr>
          <a:xfrm>
            <a:off x="77729" y="1021213"/>
            <a:ext cx="8486749" cy="3080524"/>
          </a:xfrm>
          <a:prstGeom prst="rect">
            <a:avLst/>
          </a:prstGeom>
        </p:spPr>
        <p:txBody>
          <a:bodyPr/>
          <a:lstStyle>
            <a:lvl1pPr marL="234950" indent="-2349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Wingdings" pitchFamily="2" charset="2"/>
              <a:buChar char="§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22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System Font Regular"/>
              <a:buChar char="-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88925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SzPct val="90000"/>
              <a:buFont typeface="Lucida Grande" panose="020B0600040502020204" pitchFamily="34" charset="0"/>
              <a:buChar char="✓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Conway et al 2017:</a:t>
            </a:r>
          </a:p>
          <a:p>
            <a:pPr lvl="1"/>
            <a:r>
              <a:rPr lang="en-US" dirty="0"/>
              <a:t>Meta–analysis of 73 studies comparing PaCO2 and TcCO2 to obtain pooled bias, limits of agreement (incorporating uncertainty from within- and between-study variance), including within different populations.</a:t>
            </a:r>
          </a:p>
          <a:p>
            <a:pPr lvl="1"/>
            <a:r>
              <a:rPr lang="en-US" dirty="0"/>
              <a:t>Pooled bias only -0.1mmHg but wide limits of agreement (±15mmHg) outside of clinically acceptable range. </a:t>
            </a:r>
          </a:p>
          <a:p>
            <a:pPr lvl="1"/>
            <a:r>
              <a:rPr lang="en-US" dirty="0"/>
              <a:t>Rates of misclassification therefore difficult to predict given wide uncertainty.</a:t>
            </a:r>
          </a:p>
          <a:p>
            <a:pPr lvl="0"/>
            <a:r>
              <a:rPr lang="en-US" dirty="0" err="1"/>
              <a:t>TriNetX</a:t>
            </a:r>
            <a:r>
              <a:rPr lang="en-US" dirty="0"/>
              <a:t> Database: Nationwide data set from 76 medical centers reporting data on 115 million patients including PaCO2 for those who underwent ABG sampling.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0349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23935-7A5D-7947-92B0-2C6886A69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145D8-D89B-FDCD-018B-CE0E371AC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of current analysis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51371F-FC04-BDCB-2235-DC0ABA9CDDD1}"/>
              </a:ext>
            </a:extLst>
          </p:cNvPr>
          <p:cNvSpPr txBox="1">
            <a:spLocks/>
          </p:cNvSpPr>
          <p:nvPr/>
        </p:nvSpPr>
        <p:spPr>
          <a:xfrm>
            <a:off x="172026" y="1567607"/>
            <a:ext cx="8486749" cy="1179879"/>
          </a:xfrm>
          <a:prstGeom prst="rect">
            <a:avLst/>
          </a:prstGeom>
        </p:spPr>
        <p:txBody>
          <a:bodyPr/>
          <a:lstStyle>
            <a:lvl1pPr marL="234950" indent="-2349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Wingdings" pitchFamily="2" charset="2"/>
              <a:buChar char="§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22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System Font Regular"/>
              <a:buChar char="-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88925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SzPct val="90000"/>
              <a:buFont typeface="Lucida Grande" panose="020B0600040502020204" pitchFamily="34" charset="0"/>
              <a:buChar char="✓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Estimate TcCO2 accuracy (Se/</a:t>
            </a:r>
            <a:r>
              <a:rPr lang="en-US" dirty="0" err="1"/>
              <a:t>Sp</a:t>
            </a:r>
            <a:r>
              <a:rPr lang="en-US" dirty="0"/>
              <a:t>/PPV/NPV) for detecting hypercapnia in a range of settings (Ambulatory, ED/inpatient, ICU) by applying published TcCO₂–PaCO₂ agreement (Conway 2017) to the distribution of observed PaCO2 values in a national cohort (</a:t>
            </a:r>
            <a:r>
              <a:rPr lang="en-US" dirty="0" err="1"/>
              <a:t>TriNetX</a:t>
            </a:r>
            <a:r>
              <a:rPr lang="en-US" dirty="0"/>
              <a:t>).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7634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383DD-8683-931A-C809-57CE2ACEE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631DC67-D6FD-1B6B-87E2-7C9AD5AF2ABC}"/>
              </a:ext>
            </a:extLst>
          </p:cNvPr>
          <p:cNvSpPr/>
          <p:nvPr/>
        </p:nvSpPr>
        <p:spPr>
          <a:xfrm>
            <a:off x="5782336" y="1013013"/>
            <a:ext cx="3291840" cy="4130488"/>
          </a:xfrm>
          <a:prstGeom prst="roundRect">
            <a:avLst/>
          </a:prstGeom>
          <a:solidFill>
            <a:srgbClr val="FF0000">
              <a:alpha val="38824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868A610-D016-F942-ADF8-5E3AB5B434F5}"/>
              </a:ext>
            </a:extLst>
          </p:cNvPr>
          <p:cNvCxnSpPr/>
          <p:nvPr/>
        </p:nvCxnSpPr>
        <p:spPr>
          <a:xfrm>
            <a:off x="6664825" y="2765323"/>
            <a:ext cx="1334729" cy="0"/>
          </a:xfrm>
          <a:prstGeom prst="straightConnector1">
            <a:avLst/>
          </a:prstGeom>
          <a:ln w="12700">
            <a:solidFill>
              <a:srgbClr val="172C5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3846BF17-B8CE-B895-56AF-C31A8EB771B5}"/>
              </a:ext>
            </a:extLst>
          </p:cNvPr>
          <p:cNvCxnSpPr>
            <a:cxnSpLocks/>
          </p:cNvCxnSpPr>
          <p:nvPr/>
        </p:nvCxnSpPr>
        <p:spPr>
          <a:xfrm>
            <a:off x="6662367" y="2762865"/>
            <a:ext cx="1332900" cy="1314721"/>
          </a:xfrm>
          <a:prstGeom prst="straightConnector1">
            <a:avLst/>
          </a:prstGeom>
          <a:ln w="12700">
            <a:solidFill>
              <a:srgbClr val="172C5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76077915-65D8-AD48-75B3-B360AD759880}"/>
              </a:ext>
            </a:extLst>
          </p:cNvPr>
          <p:cNvCxnSpPr/>
          <p:nvPr/>
        </p:nvCxnSpPr>
        <p:spPr>
          <a:xfrm>
            <a:off x="6654993" y="3352800"/>
            <a:ext cx="1334729" cy="0"/>
          </a:xfrm>
          <a:prstGeom prst="straightConnector1">
            <a:avLst/>
          </a:prstGeom>
          <a:ln w="12700">
            <a:solidFill>
              <a:srgbClr val="172C5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9B1C0E9-862B-A4E3-32A8-71EC444B18D9}"/>
              </a:ext>
            </a:extLst>
          </p:cNvPr>
          <p:cNvCxnSpPr>
            <a:cxnSpLocks/>
          </p:cNvCxnSpPr>
          <p:nvPr/>
        </p:nvCxnSpPr>
        <p:spPr>
          <a:xfrm flipV="1">
            <a:off x="6654993" y="2137144"/>
            <a:ext cx="1334957" cy="1215656"/>
          </a:xfrm>
          <a:prstGeom prst="straightConnector1">
            <a:avLst/>
          </a:prstGeom>
          <a:ln w="12700">
            <a:solidFill>
              <a:srgbClr val="172C5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32AE0FB-47BF-B7FB-65C4-5939C84D383C}"/>
              </a:ext>
            </a:extLst>
          </p:cNvPr>
          <p:cNvSpPr/>
          <p:nvPr/>
        </p:nvSpPr>
        <p:spPr>
          <a:xfrm>
            <a:off x="3290047" y="1021977"/>
            <a:ext cx="1882588" cy="4121524"/>
          </a:xfrm>
          <a:prstGeom prst="roundRect">
            <a:avLst/>
          </a:prstGeom>
          <a:solidFill>
            <a:srgbClr val="00B050">
              <a:alpha val="38824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35099E6-CB6E-B1BE-C0D1-F76FD91FCD23}"/>
              </a:ext>
            </a:extLst>
          </p:cNvPr>
          <p:cNvCxnSpPr>
            <a:cxnSpLocks/>
          </p:cNvCxnSpPr>
          <p:nvPr/>
        </p:nvCxnSpPr>
        <p:spPr>
          <a:xfrm>
            <a:off x="4205099" y="2832966"/>
            <a:ext cx="0" cy="913534"/>
          </a:xfrm>
          <a:prstGeom prst="straightConnector1">
            <a:avLst/>
          </a:prstGeom>
          <a:ln w="12700">
            <a:solidFill>
              <a:srgbClr val="172C5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10A149D-A8C5-8008-A626-9F63150A8342}"/>
              </a:ext>
            </a:extLst>
          </p:cNvPr>
          <p:cNvSpPr/>
          <p:nvPr/>
        </p:nvSpPr>
        <p:spPr>
          <a:xfrm>
            <a:off x="100485" y="1013012"/>
            <a:ext cx="2562034" cy="4130488"/>
          </a:xfrm>
          <a:prstGeom prst="roundRect">
            <a:avLst/>
          </a:prstGeom>
          <a:solidFill>
            <a:srgbClr val="4472C4">
              <a:alpha val="38824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9B5986-C6DB-1E85-CBB5-EC8956D55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FE2C3C7-55A2-7713-4719-83559854C1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2693956"/>
              </p:ext>
            </p:extLst>
          </p:nvPr>
        </p:nvGraphicFramePr>
        <p:xfrm>
          <a:off x="-597930" y="2362850"/>
          <a:ext cx="2425271" cy="1429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3F8DB369-27FE-F278-7610-99228DB5B4CE}"/>
              </a:ext>
            </a:extLst>
          </p:cNvPr>
          <p:cNvGrpSpPr/>
          <p:nvPr/>
        </p:nvGrpSpPr>
        <p:grpSpPr>
          <a:xfrm>
            <a:off x="1500075" y="1732768"/>
            <a:ext cx="1092997" cy="755374"/>
            <a:chOff x="8758" y="0"/>
            <a:chExt cx="1682253" cy="1952199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9DA6A23C-AF0E-E804-306F-95FF8EB7F230}"/>
                </a:ext>
              </a:extLst>
            </p:cNvPr>
            <p:cNvSpPr/>
            <p:nvPr/>
          </p:nvSpPr>
          <p:spPr>
            <a:xfrm>
              <a:off x="8758" y="0"/>
              <a:ext cx="1682253" cy="1952199"/>
            </a:xfrm>
            <a:prstGeom prst="roundRect">
              <a:avLst>
                <a:gd name="adj" fmla="val 10000"/>
              </a:avLst>
            </a:prstGeom>
            <a:solidFill>
              <a:srgbClr val="0E006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ounded Rectangle 4">
              <a:extLst>
                <a:ext uri="{FF2B5EF4-FFF2-40B4-BE49-F238E27FC236}">
                  <a16:creationId xmlns:a16="http://schemas.microsoft.com/office/drawing/2014/main" id="{9C5045D1-7459-1DA7-57D5-525FB63075C8}"/>
                </a:ext>
              </a:extLst>
            </p:cNvPr>
            <p:cNvSpPr txBox="1"/>
            <p:nvPr/>
          </p:nvSpPr>
          <p:spPr>
            <a:xfrm>
              <a:off x="58030" y="49272"/>
              <a:ext cx="1583709" cy="18536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u="sng" kern="1200" dirty="0"/>
                <a:t>Inpatient + ED</a:t>
              </a:r>
            </a:p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(n=91, 503)</a:t>
              </a:r>
              <a:endParaRPr lang="en-US" sz="1200" kern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7170B98-1BA4-C8C8-3126-D4514FCA8B35}"/>
              </a:ext>
            </a:extLst>
          </p:cNvPr>
          <p:cNvGrpSpPr/>
          <p:nvPr/>
        </p:nvGrpSpPr>
        <p:grpSpPr>
          <a:xfrm>
            <a:off x="1496744" y="2683442"/>
            <a:ext cx="1096330" cy="599831"/>
            <a:chOff x="8758" y="0"/>
            <a:chExt cx="1682253" cy="1952199"/>
          </a:xfrm>
        </p:grpSpPr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1F7835A6-67DF-C1BB-7F6A-A019F2512ADB}"/>
                </a:ext>
              </a:extLst>
            </p:cNvPr>
            <p:cNvSpPr/>
            <p:nvPr/>
          </p:nvSpPr>
          <p:spPr>
            <a:xfrm>
              <a:off x="8758" y="0"/>
              <a:ext cx="1682253" cy="1952199"/>
            </a:xfrm>
            <a:prstGeom prst="roundRect">
              <a:avLst>
                <a:gd name="adj" fmla="val 10000"/>
              </a:avLst>
            </a:prstGeom>
            <a:solidFill>
              <a:srgbClr val="0E006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ounded Rectangle 4">
              <a:extLst>
                <a:ext uri="{FF2B5EF4-FFF2-40B4-BE49-F238E27FC236}">
                  <a16:creationId xmlns:a16="http://schemas.microsoft.com/office/drawing/2014/main" id="{7AD77758-ADF1-5170-44F4-BAB04277CFC5}"/>
                </a:ext>
              </a:extLst>
            </p:cNvPr>
            <p:cNvSpPr txBox="1"/>
            <p:nvPr/>
          </p:nvSpPr>
          <p:spPr>
            <a:xfrm>
              <a:off x="58031" y="49273"/>
              <a:ext cx="1583709" cy="18536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u="sng" kern="1200" dirty="0"/>
                <a:t>ICU</a:t>
              </a:r>
            </a:p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(n=66,704)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5641016-C43E-AFCE-BEE7-0E15CD8CCD23}"/>
              </a:ext>
            </a:extLst>
          </p:cNvPr>
          <p:cNvGrpSpPr/>
          <p:nvPr/>
        </p:nvGrpSpPr>
        <p:grpSpPr>
          <a:xfrm>
            <a:off x="1503927" y="3668317"/>
            <a:ext cx="1112997" cy="815602"/>
            <a:chOff x="8758" y="0"/>
            <a:chExt cx="1682253" cy="1952199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98EDE0CD-B8B7-0B3B-65AA-720DFAA0EDCF}"/>
                </a:ext>
              </a:extLst>
            </p:cNvPr>
            <p:cNvSpPr/>
            <p:nvPr/>
          </p:nvSpPr>
          <p:spPr>
            <a:xfrm>
              <a:off x="8758" y="0"/>
              <a:ext cx="1682253" cy="1952199"/>
            </a:xfrm>
            <a:prstGeom prst="roundRect">
              <a:avLst>
                <a:gd name="adj" fmla="val 10000"/>
              </a:avLst>
            </a:prstGeom>
            <a:solidFill>
              <a:srgbClr val="0E006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ounded Rectangle 4">
              <a:extLst>
                <a:ext uri="{FF2B5EF4-FFF2-40B4-BE49-F238E27FC236}">
                  <a16:creationId xmlns:a16="http://schemas.microsoft.com/office/drawing/2014/main" id="{505DAA73-F788-EC0F-A4F7-98E00145EC34}"/>
                </a:ext>
              </a:extLst>
            </p:cNvPr>
            <p:cNvSpPr txBox="1"/>
            <p:nvPr/>
          </p:nvSpPr>
          <p:spPr>
            <a:xfrm>
              <a:off x="58030" y="49272"/>
              <a:ext cx="1583709" cy="18536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u="sng" kern="1200" dirty="0"/>
                <a:t>Ambulatory 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/>
                <a:t>(PFT Lab)</a:t>
              </a:r>
            </a:p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(n=10,456)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92D6929-7455-F926-5147-81622FA5829F}"/>
              </a:ext>
            </a:extLst>
          </p:cNvPr>
          <p:cNvGrpSpPr/>
          <p:nvPr/>
        </p:nvGrpSpPr>
        <p:grpSpPr>
          <a:xfrm rot="19950491">
            <a:off x="1071461" y="2109493"/>
            <a:ext cx="433633" cy="294823"/>
            <a:chOff x="2978200" y="523887"/>
            <a:chExt cx="252026" cy="294823"/>
          </a:xfrm>
          <a:solidFill>
            <a:schemeClr val="tx1"/>
          </a:solidFill>
        </p:grpSpPr>
        <p:sp>
          <p:nvSpPr>
            <p:cNvPr id="25" name="Right Arrow 24">
              <a:extLst>
                <a:ext uri="{FF2B5EF4-FFF2-40B4-BE49-F238E27FC236}">
                  <a16:creationId xmlns:a16="http://schemas.microsoft.com/office/drawing/2014/main" id="{D99CA9A7-CC82-524D-FD94-B383D49AC4DC}"/>
                </a:ext>
              </a:extLst>
            </p:cNvPr>
            <p:cNvSpPr/>
            <p:nvPr/>
          </p:nvSpPr>
          <p:spPr>
            <a:xfrm>
              <a:off x="2978200" y="523887"/>
              <a:ext cx="252026" cy="29482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ight Arrow 4">
              <a:extLst>
                <a:ext uri="{FF2B5EF4-FFF2-40B4-BE49-F238E27FC236}">
                  <a16:creationId xmlns:a16="http://schemas.microsoft.com/office/drawing/2014/main" id="{3872E094-79D9-D3AE-DFCA-8C5E6705D90E}"/>
                </a:ext>
              </a:extLst>
            </p:cNvPr>
            <p:cNvSpPr txBox="1"/>
            <p:nvPr/>
          </p:nvSpPr>
          <p:spPr>
            <a:xfrm>
              <a:off x="2978200" y="582852"/>
              <a:ext cx="176418" cy="17689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000" kern="120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E1B0F9D-F583-132D-2A5D-CA6216494E25}"/>
              </a:ext>
            </a:extLst>
          </p:cNvPr>
          <p:cNvGrpSpPr/>
          <p:nvPr/>
        </p:nvGrpSpPr>
        <p:grpSpPr>
          <a:xfrm>
            <a:off x="1120943" y="2834818"/>
            <a:ext cx="343044" cy="294823"/>
            <a:chOff x="2978200" y="523887"/>
            <a:chExt cx="252026" cy="294823"/>
          </a:xfrm>
          <a:solidFill>
            <a:schemeClr val="tx1"/>
          </a:solidFill>
        </p:grpSpPr>
        <p:sp>
          <p:nvSpPr>
            <p:cNvPr id="50" name="Right Arrow 49">
              <a:extLst>
                <a:ext uri="{FF2B5EF4-FFF2-40B4-BE49-F238E27FC236}">
                  <a16:creationId xmlns:a16="http://schemas.microsoft.com/office/drawing/2014/main" id="{499BEC10-7AB1-9FD8-D81A-336468871CD0}"/>
                </a:ext>
              </a:extLst>
            </p:cNvPr>
            <p:cNvSpPr/>
            <p:nvPr/>
          </p:nvSpPr>
          <p:spPr>
            <a:xfrm>
              <a:off x="2978200" y="523887"/>
              <a:ext cx="252026" cy="29482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Right Arrow 4">
              <a:extLst>
                <a:ext uri="{FF2B5EF4-FFF2-40B4-BE49-F238E27FC236}">
                  <a16:creationId xmlns:a16="http://schemas.microsoft.com/office/drawing/2014/main" id="{78173438-F1CB-AE4D-0007-A04C87D3E437}"/>
                </a:ext>
              </a:extLst>
            </p:cNvPr>
            <p:cNvSpPr txBox="1"/>
            <p:nvPr/>
          </p:nvSpPr>
          <p:spPr>
            <a:xfrm>
              <a:off x="2978200" y="582852"/>
              <a:ext cx="176418" cy="17689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000" kern="120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355B7FA-3F5D-5F3F-6FFB-7382F12677DF}"/>
              </a:ext>
            </a:extLst>
          </p:cNvPr>
          <p:cNvGrpSpPr/>
          <p:nvPr/>
        </p:nvGrpSpPr>
        <p:grpSpPr>
          <a:xfrm rot="1807701">
            <a:off x="1091067" y="3725100"/>
            <a:ext cx="430596" cy="294823"/>
            <a:chOff x="2978200" y="523887"/>
            <a:chExt cx="252026" cy="294823"/>
          </a:xfrm>
          <a:solidFill>
            <a:schemeClr val="tx1"/>
          </a:solidFill>
        </p:grpSpPr>
        <p:sp>
          <p:nvSpPr>
            <p:cNvPr id="62" name="Right Arrow 61">
              <a:extLst>
                <a:ext uri="{FF2B5EF4-FFF2-40B4-BE49-F238E27FC236}">
                  <a16:creationId xmlns:a16="http://schemas.microsoft.com/office/drawing/2014/main" id="{72E0880D-26C8-0AE7-47A6-4419B8263C57}"/>
                </a:ext>
              </a:extLst>
            </p:cNvPr>
            <p:cNvSpPr/>
            <p:nvPr/>
          </p:nvSpPr>
          <p:spPr>
            <a:xfrm>
              <a:off x="2978200" y="523887"/>
              <a:ext cx="252026" cy="29482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3" name="Right Arrow 4">
              <a:extLst>
                <a:ext uri="{FF2B5EF4-FFF2-40B4-BE49-F238E27FC236}">
                  <a16:creationId xmlns:a16="http://schemas.microsoft.com/office/drawing/2014/main" id="{BC8C88CA-619C-E11F-409A-D4CDAA10E836}"/>
                </a:ext>
              </a:extLst>
            </p:cNvPr>
            <p:cNvSpPr txBox="1"/>
            <p:nvPr/>
          </p:nvSpPr>
          <p:spPr>
            <a:xfrm>
              <a:off x="2978200" y="582852"/>
              <a:ext cx="176418" cy="17689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000" kern="120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F9B84C4-7FDB-95B3-CA75-8418DFC8D3B8}"/>
              </a:ext>
            </a:extLst>
          </p:cNvPr>
          <p:cNvSpPr txBox="1"/>
          <p:nvPr/>
        </p:nvSpPr>
        <p:spPr>
          <a:xfrm>
            <a:off x="113919" y="1097684"/>
            <a:ext cx="25768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PaCO2 distribution from </a:t>
            </a:r>
            <a:r>
              <a:rPr lang="en-US" b="1" dirty="0" err="1"/>
              <a:t>TriNetX</a:t>
            </a:r>
            <a:r>
              <a:rPr lang="en-US" b="1" dirty="0"/>
              <a:t>; </a:t>
            </a:r>
          </a:p>
          <a:p>
            <a:pPr algn="ctr"/>
            <a:r>
              <a:rPr lang="en-US" b="1" dirty="0"/>
              <a:t>Split by location of ABG sampling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2D6A92-ED6E-F0B5-2472-A56150AE27EF}"/>
              </a:ext>
            </a:extLst>
          </p:cNvPr>
          <p:cNvSpPr txBox="1"/>
          <p:nvPr/>
        </p:nvSpPr>
        <p:spPr>
          <a:xfrm>
            <a:off x="3470116" y="1103922"/>
            <a:ext cx="145180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Simulate a TcCO2 </a:t>
            </a:r>
          </a:p>
          <a:p>
            <a:pPr algn="ctr"/>
            <a:r>
              <a:rPr lang="en-US" b="1" dirty="0"/>
              <a:t>for each PaCO2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0AA9F4-2A5F-2F3D-E6F5-EB30EC8155B2}"/>
              </a:ext>
            </a:extLst>
          </p:cNvPr>
          <p:cNvSpPr txBox="1"/>
          <p:nvPr/>
        </p:nvSpPr>
        <p:spPr>
          <a:xfrm>
            <a:off x="5983784" y="1241658"/>
            <a:ext cx="293606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Distribution of true/false classification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01183E-242C-5F5E-1441-83069A030B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2598" y="4081550"/>
            <a:ext cx="1056309" cy="10619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034B7BA-5758-5C08-84D3-18766C81ECB6}"/>
              </a:ext>
            </a:extLst>
          </p:cNvPr>
          <p:cNvSpPr txBox="1"/>
          <p:nvPr/>
        </p:nvSpPr>
        <p:spPr>
          <a:xfrm>
            <a:off x="6449669" y="3831693"/>
            <a:ext cx="9883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Stata Code: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E3C0D-765E-1201-6A20-8F63789EBDCC}"/>
              </a:ext>
            </a:extLst>
          </p:cNvPr>
          <p:cNvGrpSpPr/>
          <p:nvPr/>
        </p:nvGrpSpPr>
        <p:grpSpPr>
          <a:xfrm>
            <a:off x="3427898" y="3093706"/>
            <a:ext cx="1484026" cy="509665"/>
            <a:chOff x="-157597" y="535425"/>
            <a:chExt cx="1932126" cy="1416774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54A215EE-0299-23CC-4482-8D8AA53513C7}"/>
                </a:ext>
              </a:extLst>
            </p:cNvPr>
            <p:cNvSpPr/>
            <p:nvPr/>
          </p:nvSpPr>
          <p:spPr>
            <a:xfrm>
              <a:off x="8758" y="660495"/>
              <a:ext cx="1682253" cy="1291704"/>
            </a:xfrm>
            <a:prstGeom prst="roundRect">
              <a:avLst>
                <a:gd name="adj" fmla="val 10000"/>
              </a:avLst>
            </a:prstGeom>
            <a:solidFill>
              <a:srgbClr val="0E006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ounded Rectangle 4">
              <a:extLst>
                <a:ext uri="{FF2B5EF4-FFF2-40B4-BE49-F238E27FC236}">
                  <a16:creationId xmlns:a16="http://schemas.microsoft.com/office/drawing/2014/main" id="{14C7C5E9-5461-C3E5-A6C7-D42B5E73BC81}"/>
                </a:ext>
              </a:extLst>
            </p:cNvPr>
            <p:cNvSpPr txBox="1"/>
            <p:nvPr/>
          </p:nvSpPr>
          <p:spPr>
            <a:xfrm>
              <a:off x="-157597" y="535425"/>
              <a:ext cx="1932126" cy="13675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dirty="0"/>
                <a:t>Location-specific Bias </a:t>
              </a:r>
            </a:p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dirty="0"/>
                <a:t>+ Uncertainty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C49F1772-3E58-AEB7-8E42-99468F4F37C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07099" y="1880351"/>
            <a:ext cx="983975" cy="11543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90DB9FF-98AA-A1F5-7C65-3C405C0E31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94519" y="3921833"/>
            <a:ext cx="1001893" cy="11675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114A3A1-371D-E817-77C0-70614E45E5B6}"/>
              </a:ext>
            </a:extLst>
          </p:cNvPr>
          <p:cNvSpPr txBox="1"/>
          <p:nvPr/>
        </p:nvSpPr>
        <p:spPr>
          <a:xfrm>
            <a:off x="3899484" y="1633368"/>
            <a:ext cx="64908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PaCO2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FAF192-99BA-AE32-EFF9-7E9512B0AECC}"/>
              </a:ext>
            </a:extLst>
          </p:cNvPr>
          <p:cNvSpPr txBox="1"/>
          <p:nvPr/>
        </p:nvSpPr>
        <p:spPr>
          <a:xfrm>
            <a:off x="3872590" y="3665913"/>
            <a:ext cx="62344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TcCO2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3FCCF70-AF98-2087-C86D-DAB04B84FA8A}"/>
              </a:ext>
            </a:extLst>
          </p:cNvPr>
          <p:cNvGrpSpPr/>
          <p:nvPr/>
        </p:nvGrpSpPr>
        <p:grpSpPr>
          <a:xfrm>
            <a:off x="5858150" y="2567609"/>
            <a:ext cx="799301" cy="453352"/>
            <a:chOff x="8758" y="0"/>
            <a:chExt cx="1682253" cy="1952199"/>
          </a:xfrm>
        </p:grpSpPr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22303021-944C-87C4-82F4-7189C5CAD18F}"/>
                </a:ext>
              </a:extLst>
            </p:cNvPr>
            <p:cNvSpPr/>
            <p:nvPr/>
          </p:nvSpPr>
          <p:spPr>
            <a:xfrm>
              <a:off x="8758" y="0"/>
              <a:ext cx="1682253" cy="1952199"/>
            </a:xfrm>
            <a:prstGeom prst="roundRect">
              <a:avLst>
                <a:gd name="adj" fmla="val 10000"/>
              </a:avLst>
            </a:prstGeom>
            <a:solidFill>
              <a:srgbClr val="0E006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2" name="Rounded Rectangle 4">
              <a:extLst>
                <a:ext uri="{FF2B5EF4-FFF2-40B4-BE49-F238E27FC236}">
                  <a16:creationId xmlns:a16="http://schemas.microsoft.com/office/drawing/2014/main" id="{6BAD0E89-38DA-F174-868B-BB5BF6C39244}"/>
                </a:ext>
              </a:extLst>
            </p:cNvPr>
            <p:cNvSpPr txBox="1"/>
            <p:nvPr/>
          </p:nvSpPr>
          <p:spPr>
            <a:xfrm>
              <a:off x="58030" y="49273"/>
              <a:ext cx="1583709" cy="18536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TcCO2&lt;45</a:t>
              </a:r>
              <a:endParaRPr lang="en-US" sz="1100" kern="1200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3A83D05-CE80-AC61-259D-02BF65277C7A}"/>
              </a:ext>
            </a:extLst>
          </p:cNvPr>
          <p:cNvGrpSpPr/>
          <p:nvPr/>
        </p:nvGrpSpPr>
        <p:grpSpPr>
          <a:xfrm>
            <a:off x="5855693" y="3118215"/>
            <a:ext cx="799301" cy="453352"/>
            <a:chOff x="8758" y="0"/>
            <a:chExt cx="1682253" cy="1952199"/>
          </a:xfrm>
        </p:grpSpPr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881AC36E-8CB5-204D-6942-D9470449133D}"/>
                </a:ext>
              </a:extLst>
            </p:cNvPr>
            <p:cNvSpPr/>
            <p:nvPr/>
          </p:nvSpPr>
          <p:spPr>
            <a:xfrm>
              <a:off x="8758" y="0"/>
              <a:ext cx="1682253" cy="1952199"/>
            </a:xfrm>
            <a:prstGeom prst="roundRect">
              <a:avLst>
                <a:gd name="adj" fmla="val 10000"/>
              </a:avLst>
            </a:prstGeom>
            <a:solidFill>
              <a:srgbClr val="0E006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5" name="Rounded Rectangle 4">
              <a:extLst>
                <a:ext uri="{FF2B5EF4-FFF2-40B4-BE49-F238E27FC236}">
                  <a16:creationId xmlns:a16="http://schemas.microsoft.com/office/drawing/2014/main" id="{B40B909B-CC15-CD2C-C010-35930F2B75E2}"/>
                </a:ext>
              </a:extLst>
            </p:cNvPr>
            <p:cNvSpPr txBox="1"/>
            <p:nvPr/>
          </p:nvSpPr>
          <p:spPr>
            <a:xfrm>
              <a:off x="58030" y="49273"/>
              <a:ext cx="1583709" cy="18536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TcCO2&gt;45</a:t>
              </a:r>
              <a:endParaRPr lang="en-US" sz="1100" kern="1200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72B8C28-E817-2179-1D86-A678A0691BE4}"/>
              </a:ext>
            </a:extLst>
          </p:cNvPr>
          <p:cNvGrpSpPr/>
          <p:nvPr/>
        </p:nvGrpSpPr>
        <p:grpSpPr>
          <a:xfrm>
            <a:off x="6944615" y="2555319"/>
            <a:ext cx="799301" cy="453352"/>
            <a:chOff x="8758" y="0"/>
            <a:chExt cx="1682253" cy="1952199"/>
          </a:xfrm>
        </p:grpSpPr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C0FFB639-D9A5-3225-3612-C1B3FA9A8035}"/>
                </a:ext>
              </a:extLst>
            </p:cNvPr>
            <p:cNvSpPr/>
            <p:nvPr/>
          </p:nvSpPr>
          <p:spPr>
            <a:xfrm>
              <a:off x="8758" y="0"/>
              <a:ext cx="1682253" cy="1952199"/>
            </a:xfrm>
            <a:prstGeom prst="roundRect">
              <a:avLst>
                <a:gd name="adj" fmla="val 10000"/>
              </a:avLst>
            </a:prstGeom>
            <a:solidFill>
              <a:srgbClr val="0E006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8" name="Rounded Rectangle 4">
              <a:extLst>
                <a:ext uri="{FF2B5EF4-FFF2-40B4-BE49-F238E27FC236}">
                  <a16:creationId xmlns:a16="http://schemas.microsoft.com/office/drawing/2014/main" id="{50556726-86A4-1034-0109-017E53F73C1B}"/>
                </a:ext>
              </a:extLst>
            </p:cNvPr>
            <p:cNvSpPr txBox="1"/>
            <p:nvPr/>
          </p:nvSpPr>
          <p:spPr>
            <a:xfrm>
              <a:off x="58030" y="49273"/>
              <a:ext cx="1583709" cy="18536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PaCO2&lt;45</a:t>
              </a:r>
              <a:endParaRPr lang="en-US" sz="1100" kern="1200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136EACD-C512-098A-D9D3-0A8454563908}"/>
              </a:ext>
            </a:extLst>
          </p:cNvPr>
          <p:cNvGrpSpPr/>
          <p:nvPr/>
        </p:nvGrpSpPr>
        <p:grpSpPr>
          <a:xfrm>
            <a:off x="6927407" y="3150171"/>
            <a:ext cx="799301" cy="453352"/>
            <a:chOff x="8758" y="0"/>
            <a:chExt cx="1682253" cy="1952199"/>
          </a:xfrm>
        </p:grpSpPr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D9238ED5-845C-E0F0-FCB1-109929185634}"/>
                </a:ext>
              </a:extLst>
            </p:cNvPr>
            <p:cNvSpPr/>
            <p:nvPr/>
          </p:nvSpPr>
          <p:spPr>
            <a:xfrm>
              <a:off x="8758" y="0"/>
              <a:ext cx="1682253" cy="1952199"/>
            </a:xfrm>
            <a:prstGeom prst="roundRect">
              <a:avLst>
                <a:gd name="adj" fmla="val 10000"/>
              </a:avLst>
            </a:prstGeom>
            <a:solidFill>
              <a:srgbClr val="0E006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1" name="Rounded Rectangle 4">
              <a:extLst>
                <a:ext uri="{FF2B5EF4-FFF2-40B4-BE49-F238E27FC236}">
                  <a16:creationId xmlns:a16="http://schemas.microsoft.com/office/drawing/2014/main" id="{2EAC279E-F7CA-ED78-CAB2-DD2039F8E42B}"/>
                </a:ext>
              </a:extLst>
            </p:cNvPr>
            <p:cNvSpPr txBox="1"/>
            <p:nvPr/>
          </p:nvSpPr>
          <p:spPr>
            <a:xfrm>
              <a:off x="58030" y="49273"/>
              <a:ext cx="1583709" cy="18536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PaCO2&gt;45</a:t>
              </a:r>
              <a:endParaRPr lang="en-US" sz="1100" kern="1200" dirty="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86A1C02-BB1E-A0CB-0401-EEB7D6B0F224}"/>
              </a:ext>
            </a:extLst>
          </p:cNvPr>
          <p:cNvGrpSpPr/>
          <p:nvPr/>
        </p:nvGrpSpPr>
        <p:grpSpPr>
          <a:xfrm>
            <a:off x="8040911" y="2560235"/>
            <a:ext cx="799301" cy="453352"/>
            <a:chOff x="8758" y="0"/>
            <a:chExt cx="1682253" cy="1952199"/>
          </a:xfrm>
        </p:grpSpPr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762E6025-C207-82E2-7078-1A88B4F1CC86}"/>
                </a:ext>
              </a:extLst>
            </p:cNvPr>
            <p:cNvSpPr/>
            <p:nvPr/>
          </p:nvSpPr>
          <p:spPr>
            <a:xfrm>
              <a:off x="8758" y="0"/>
              <a:ext cx="1682253" cy="1952199"/>
            </a:xfrm>
            <a:prstGeom prst="roundRect">
              <a:avLst>
                <a:gd name="adj" fmla="val 10000"/>
              </a:avLst>
            </a:prstGeom>
            <a:solidFill>
              <a:srgbClr val="0E006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4" name="Rounded Rectangle 4">
              <a:extLst>
                <a:ext uri="{FF2B5EF4-FFF2-40B4-BE49-F238E27FC236}">
                  <a16:creationId xmlns:a16="http://schemas.microsoft.com/office/drawing/2014/main" id="{78183304-EF47-BEA1-2FAD-54036810645D}"/>
                </a:ext>
              </a:extLst>
            </p:cNvPr>
            <p:cNvSpPr txBox="1"/>
            <p:nvPr/>
          </p:nvSpPr>
          <p:spPr>
            <a:xfrm>
              <a:off x="58030" y="49273"/>
              <a:ext cx="1583709" cy="18536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TN</a:t>
              </a:r>
              <a:endParaRPr lang="en-US" sz="1100" kern="1200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6E0802E-8361-65A1-3C79-7B296956FCE7}"/>
              </a:ext>
            </a:extLst>
          </p:cNvPr>
          <p:cNvGrpSpPr/>
          <p:nvPr/>
        </p:nvGrpSpPr>
        <p:grpSpPr>
          <a:xfrm>
            <a:off x="8037596" y="1813327"/>
            <a:ext cx="799301" cy="453352"/>
            <a:chOff x="8758" y="0"/>
            <a:chExt cx="1682253" cy="1952199"/>
          </a:xfrm>
        </p:grpSpPr>
        <p:sp>
          <p:nvSpPr>
            <p:cNvPr id="91" name="Rounded Rectangle 90">
              <a:extLst>
                <a:ext uri="{FF2B5EF4-FFF2-40B4-BE49-F238E27FC236}">
                  <a16:creationId xmlns:a16="http://schemas.microsoft.com/office/drawing/2014/main" id="{A6900239-C19A-5DBB-5077-9EE3185852C3}"/>
                </a:ext>
              </a:extLst>
            </p:cNvPr>
            <p:cNvSpPr/>
            <p:nvPr/>
          </p:nvSpPr>
          <p:spPr>
            <a:xfrm>
              <a:off x="8758" y="0"/>
              <a:ext cx="1682253" cy="1952199"/>
            </a:xfrm>
            <a:prstGeom prst="roundRect">
              <a:avLst>
                <a:gd name="adj" fmla="val 10000"/>
              </a:avLst>
            </a:prstGeom>
            <a:solidFill>
              <a:srgbClr val="0E006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2" name="Rounded Rectangle 4">
              <a:extLst>
                <a:ext uri="{FF2B5EF4-FFF2-40B4-BE49-F238E27FC236}">
                  <a16:creationId xmlns:a16="http://schemas.microsoft.com/office/drawing/2014/main" id="{4070801D-04DA-0FA0-C92D-EECD59108186}"/>
                </a:ext>
              </a:extLst>
            </p:cNvPr>
            <p:cNvSpPr txBox="1"/>
            <p:nvPr/>
          </p:nvSpPr>
          <p:spPr>
            <a:xfrm>
              <a:off x="58030" y="49273"/>
              <a:ext cx="1583709" cy="18536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FP</a:t>
              </a:r>
              <a:endParaRPr lang="en-US" sz="1100" kern="1200" dirty="0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B827294-7334-2CE7-ACF9-EF691295C0AA}"/>
              </a:ext>
            </a:extLst>
          </p:cNvPr>
          <p:cNvGrpSpPr/>
          <p:nvPr/>
        </p:nvGrpSpPr>
        <p:grpSpPr>
          <a:xfrm>
            <a:off x="8043369" y="3152629"/>
            <a:ext cx="799301" cy="453352"/>
            <a:chOff x="8758" y="0"/>
            <a:chExt cx="1682253" cy="1952199"/>
          </a:xfrm>
        </p:grpSpPr>
        <p:sp>
          <p:nvSpPr>
            <p:cNvPr id="94" name="Rounded Rectangle 93">
              <a:extLst>
                <a:ext uri="{FF2B5EF4-FFF2-40B4-BE49-F238E27FC236}">
                  <a16:creationId xmlns:a16="http://schemas.microsoft.com/office/drawing/2014/main" id="{BDCF4E80-78DB-E3C4-6B2B-D413C610308C}"/>
                </a:ext>
              </a:extLst>
            </p:cNvPr>
            <p:cNvSpPr/>
            <p:nvPr/>
          </p:nvSpPr>
          <p:spPr>
            <a:xfrm>
              <a:off x="8758" y="0"/>
              <a:ext cx="1682253" cy="1952199"/>
            </a:xfrm>
            <a:prstGeom prst="roundRect">
              <a:avLst>
                <a:gd name="adj" fmla="val 10000"/>
              </a:avLst>
            </a:prstGeom>
            <a:solidFill>
              <a:srgbClr val="0E006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5" name="Rounded Rectangle 4">
              <a:extLst>
                <a:ext uri="{FF2B5EF4-FFF2-40B4-BE49-F238E27FC236}">
                  <a16:creationId xmlns:a16="http://schemas.microsoft.com/office/drawing/2014/main" id="{E85FF36E-C5A1-2E5F-21B0-4CAA0A16B9C8}"/>
                </a:ext>
              </a:extLst>
            </p:cNvPr>
            <p:cNvSpPr txBox="1"/>
            <p:nvPr/>
          </p:nvSpPr>
          <p:spPr>
            <a:xfrm>
              <a:off x="58030" y="49273"/>
              <a:ext cx="1583709" cy="18536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TP</a:t>
              </a:r>
              <a:endParaRPr lang="en-US" sz="1100" kern="1200" dirty="0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CB6B151-E517-577A-9EDD-40F7A5AC7AD4}"/>
              </a:ext>
            </a:extLst>
          </p:cNvPr>
          <p:cNvGrpSpPr/>
          <p:nvPr/>
        </p:nvGrpSpPr>
        <p:grpSpPr>
          <a:xfrm>
            <a:off x="8040912" y="3922060"/>
            <a:ext cx="799301" cy="453352"/>
            <a:chOff x="8758" y="0"/>
            <a:chExt cx="1682253" cy="1952199"/>
          </a:xfrm>
        </p:grpSpPr>
        <p:sp>
          <p:nvSpPr>
            <p:cNvPr id="97" name="Rounded Rectangle 96">
              <a:extLst>
                <a:ext uri="{FF2B5EF4-FFF2-40B4-BE49-F238E27FC236}">
                  <a16:creationId xmlns:a16="http://schemas.microsoft.com/office/drawing/2014/main" id="{1D5428A3-FB1F-C43E-43F9-41DC085C7639}"/>
                </a:ext>
              </a:extLst>
            </p:cNvPr>
            <p:cNvSpPr/>
            <p:nvPr/>
          </p:nvSpPr>
          <p:spPr>
            <a:xfrm>
              <a:off x="8758" y="0"/>
              <a:ext cx="1682253" cy="1952199"/>
            </a:xfrm>
            <a:prstGeom prst="roundRect">
              <a:avLst>
                <a:gd name="adj" fmla="val 10000"/>
              </a:avLst>
            </a:prstGeom>
            <a:solidFill>
              <a:srgbClr val="0E006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8" name="Rounded Rectangle 4">
              <a:extLst>
                <a:ext uri="{FF2B5EF4-FFF2-40B4-BE49-F238E27FC236}">
                  <a16:creationId xmlns:a16="http://schemas.microsoft.com/office/drawing/2014/main" id="{0CEE4B2E-0B7C-A7C0-A6E9-99C3497727A2}"/>
                </a:ext>
              </a:extLst>
            </p:cNvPr>
            <p:cNvSpPr txBox="1"/>
            <p:nvPr/>
          </p:nvSpPr>
          <p:spPr>
            <a:xfrm>
              <a:off x="58030" y="49273"/>
              <a:ext cx="1583709" cy="18536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FN</a:t>
              </a:r>
              <a:endParaRPr lang="en-US" sz="1100" kern="1200" dirty="0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1C3E4DC-E80A-F214-E7CC-848E47DDB77B}"/>
              </a:ext>
            </a:extLst>
          </p:cNvPr>
          <p:cNvGrpSpPr/>
          <p:nvPr/>
        </p:nvGrpSpPr>
        <p:grpSpPr>
          <a:xfrm>
            <a:off x="2661651" y="2023859"/>
            <a:ext cx="565253" cy="294823"/>
            <a:chOff x="2978200" y="523887"/>
            <a:chExt cx="252026" cy="294823"/>
          </a:xfrm>
          <a:solidFill>
            <a:schemeClr val="tx1"/>
          </a:solidFill>
        </p:grpSpPr>
        <p:sp>
          <p:nvSpPr>
            <p:cNvPr id="116" name="Right Arrow 115">
              <a:extLst>
                <a:ext uri="{FF2B5EF4-FFF2-40B4-BE49-F238E27FC236}">
                  <a16:creationId xmlns:a16="http://schemas.microsoft.com/office/drawing/2014/main" id="{0E59662B-ACB4-74D6-F8F6-7D50D41B70D3}"/>
                </a:ext>
              </a:extLst>
            </p:cNvPr>
            <p:cNvSpPr/>
            <p:nvPr/>
          </p:nvSpPr>
          <p:spPr>
            <a:xfrm>
              <a:off x="2978200" y="523887"/>
              <a:ext cx="252026" cy="29482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7" name="Right Arrow 4">
              <a:extLst>
                <a:ext uri="{FF2B5EF4-FFF2-40B4-BE49-F238E27FC236}">
                  <a16:creationId xmlns:a16="http://schemas.microsoft.com/office/drawing/2014/main" id="{DA5F14D0-E0E3-00DA-D288-98EAB89D0527}"/>
                </a:ext>
              </a:extLst>
            </p:cNvPr>
            <p:cNvSpPr txBox="1"/>
            <p:nvPr/>
          </p:nvSpPr>
          <p:spPr>
            <a:xfrm>
              <a:off x="2978200" y="582852"/>
              <a:ext cx="176418" cy="17689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000" kern="1200"/>
            </a:p>
          </p:txBody>
        </p:sp>
      </p:grp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48809F4-298F-7B07-2141-48CBFCD88ADE}"/>
              </a:ext>
            </a:extLst>
          </p:cNvPr>
          <p:cNvCxnSpPr/>
          <p:nvPr/>
        </p:nvCxnSpPr>
        <p:spPr>
          <a:xfrm>
            <a:off x="5785855" y="1662090"/>
            <a:ext cx="3290047" cy="0"/>
          </a:xfrm>
          <a:prstGeom prst="line">
            <a:avLst/>
          </a:prstGeom>
          <a:ln>
            <a:solidFill>
              <a:srgbClr val="172C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7D79F5C8-6F2A-48C2-78DB-8F155A58CA55}"/>
              </a:ext>
            </a:extLst>
          </p:cNvPr>
          <p:cNvCxnSpPr>
            <a:cxnSpLocks/>
          </p:cNvCxnSpPr>
          <p:nvPr/>
        </p:nvCxnSpPr>
        <p:spPr>
          <a:xfrm>
            <a:off x="3294241" y="1662090"/>
            <a:ext cx="1881766" cy="0"/>
          </a:xfrm>
          <a:prstGeom prst="line">
            <a:avLst/>
          </a:prstGeom>
          <a:ln>
            <a:solidFill>
              <a:srgbClr val="172C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AA0F7E18-B0F3-BC3E-7598-C6A9F9836AD2}"/>
              </a:ext>
            </a:extLst>
          </p:cNvPr>
          <p:cNvCxnSpPr>
            <a:cxnSpLocks/>
          </p:cNvCxnSpPr>
          <p:nvPr/>
        </p:nvCxnSpPr>
        <p:spPr>
          <a:xfrm>
            <a:off x="103958" y="1657895"/>
            <a:ext cx="2559547" cy="0"/>
          </a:xfrm>
          <a:prstGeom prst="line">
            <a:avLst/>
          </a:prstGeom>
          <a:ln>
            <a:solidFill>
              <a:srgbClr val="172C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D11A39FC-3382-8BCB-5203-B83FC49F0F05}"/>
              </a:ext>
            </a:extLst>
          </p:cNvPr>
          <p:cNvGrpSpPr/>
          <p:nvPr/>
        </p:nvGrpSpPr>
        <p:grpSpPr>
          <a:xfrm>
            <a:off x="2661651" y="2838868"/>
            <a:ext cx="565253" cy="294823"/>
            <a:chOff x="2978200" y="523887"/>
            <a:chExt cx="252026" cy="294823"/>
          </a:xfrm>
          <a:solidFill>
            <a:schemeClr val="tx1"/>
          </a:solidFill>
        </p:grpSpPr>
        <p:sp>
          <p:nvSpPr>
            <p:cNvPr id="132" name="Right Arrow 131">
              <a:extLst>
                <a:ext uri="{FF2B5EF4-FFF2-40B4-BE49-F238E27FC236}">
                  <a16:creationId xmlns:a16="http://schemas.microsoft.com/office/drawing/2014/main" id="{148C2BA9-0C23-F62D-76AD-54884F5C9E40}"/>
                </a:ext>
              </a:extLst>
            </p:cNvPr>
            <p:cNvSpPr/>
            <p:nvPr/>
          </p:nvSpPr>
          <p:spPr>
            <a:xfrm>
              <a:off x="2978200" y="523887"/>
              <a:ext cx="252026" cy="29482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3" name="Right Arrow 4">
              <a:extLst>
                <a:ext uri="{FF2B5EF4-FFF2-40B4-BE49-F238E27FC236}">
                  <a16:creationId xmlns:a16="http://schemas.microsoft.com/office/drawing/2014/main" id="{EA202EA6-C121-52D3-F582-A3F57A519744}"/>
                </a:ext>
              </a:extLst>
            </p:cNvPr>
            <p:cNvSpPr txBox="1"/>
            <p:nvPr/>
          </p:nvSpPr>
          <p:spPr>
            <a:xfrm>
              <a:off x="2978200" y="582852"/>
              <a:ext cx="176418" cy="17689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000" kern="1200"/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B9C59550-A902-D1AC-9891-DFF17ED85B1D}"/>
              </a:ext>
            </a:extLst>
          </p:cNvPr>
          <p:cNvGrpSpPr/>
          <p:nvPr/>
        </p:nvGrpSpPr>
        <p:grpSpPr>
          <a:xfrm>
            <a:off x="2661651" y="3952050"/>
            <a:ext cx="565253" cy="294823"/>
            <a:chOff x="2978200" y="523887"/>
            <a:chExt cx="252026" cy="294823"/>
          </a:xfrm>
          <a:solidFill>
            <a:schemeClr val="tx1"/>
          </a:solidFill>
        </p:grpSpPr>
        <p:sp>
          <p:nvSpPr>
            <p:cNvPr id="135" name="Right Arrow 134">
              <a:extLst>
                <a:ext uri="{FF2B5EF4-FFF2-40B4-BE49-F238E27FC236}">
                  <a16:creationId xmlns:a16="http://schemas.microsoft.com/office/drawing/2014/main" id="{64ADC7B5-8E0B-B89B-809C-BB28E527FA57}"/>
                </a:ext>
              </a:extLst>
            </p:cNvPr>
            <p:cNvSpPr/>
            <p:nvPr/>
          </p:nvSpPr>
          <p:spPr>
            <a:xfrm>
              <a:off x="2978200" y="523887"/>
              <a:ext cx="252026" cy="29482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6" name="Right Arrow 4">
              <a:extLst>
                <a:ext uri="{FF2B5EF4-FFF2-40B4-BE49-F238E27FC236}">
                  <a16:creationId xmlns:a16="http://schemas.microsoft.com/office/drawing/2014/main" id="{62B1C30D-2798-A00B-E777-C24B2790B930}"/>
                </a:ext>
              </a:extLst>
            </p:cNvPr>
            <p:cNvSpPr txBox="1"/>
            <p:nvPr/>
          </p:nvSpPr>
          <p:spPr>
            <a:xfrm>
              <a:off x="2978200" y="582852"/>
              <a:ext cx="176418" cy="17689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000" kern="1200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AFBEA1AA-E3CF-D474-814A-323DC14A07E1}"/>
              </a:ext>
            </a:extLst>
          </p:cNvPr>
          <p:cNvGrpSpPr/>
          <p:nvPr/>
        </p:nvGrpSpPr>
        <p:grpSpPr>
          <a:xfrm>
            <a:off x="5166312" y="2838868"/>
            <a:ext cx="565253" cy="294823"/>
            <a:chOff x="2978200" y="523887"/>
            <a:chExt cx="252026" cy="294823"/>
          </a:xfrm>
          <a:solidFill>
            <a:schemeClr val="tx1"/>
          </a:solidFill>
        </p:grpSpPr>
        <p:sp>
          <p:nvSpPr>
            <p:cNvPr id="138" name="Right Arrow 137">
              <a:extLst>
                <a:ext uri="{FF2B5EF4-FFF2-40B4-BE49-F238E27FC236}">
                  <a16:creationId xmlns:a16="http://schemas.microsoft.com/office/drawing/2014/main" id="{FB778478-0473-A934-E208-EFCE56AFADAA}"/>
                </a:ext>
              </a:extLst>
            </p:cNvPr>
            <p:cNvSpPr/>
            <p:nvPr/>
          </p:nvSpPr>
          <p:spPr>
            <a:xfrm>
              <a:off x="2978200" y="523887"/>
              <a:ext cx="252026" cy="29482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9" name="Right Arrow 4">
              <a:extLst>
                <a:ext uri="{FF2B5EF4-FFF2-40B4-BE49-F238E27FC236}">
                  <a16:creationId xmlns:a16="http://schemas.microsoft.com/office/drawing/2014/main" id="{D2F1CD67-9953-9E6F-8012-C7C1F048B6EA}"/>
                </a:ext>
              </a:extLst>
            </p:cNvPr>
            <p:cNvSpPr txBox="1"/>
            <p:nvPr/>
          </p:nvSpPr>
          <p:spPr>
            <a:xfrm>
              <a:off x="2978200" y="582852"/>
              <a:ext cx="176418" cy="17689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000" kern="120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352213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6169E-4A8E-FFFD-FF58-35F3A280D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1CE37-A9CA-63A3-0D40-96DA3B50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2588B66-A24B-5E1C-C690-CE67CEB52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927117"/>
              </p:ext>
            </p:extLst>
          </p:nvPr>
        </p:nvGraphicFramePr>
        <p:xfrm>
          <a:off x="196422" y="768549"/>
          <a:ext cx="8733691" cy="1544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6091">
                  <a:extLst>
                    <a:ext uri="{9D8B030D-6E8A-4147-A177-3AD203B41FA5}">
                      <a16:colId xmlns:a16="http://schemas.microsoft.com/office/drawing/2014/main" val="3833142152"/>
                    </a:ext>
                  </a:extLst>
                </a:gridCol>
                <a:gridCol w="1607259">
                  <a:extLst>
                    <a:ext uri="{9D8B030D-6E8A-4147-A177-3AD203B41FA5}">
                      <a16:colId xmlns:a16="http://schemas.microsoft.com/office/drawing/2014/main" val="319792714"/>
                    </a:ext>
                  </a:extLst>
                </a:gridCol>
                <a:gridCol w="1230792">
                  <a:extLst>
                    <a:ext uri="{9D8B030D-6E8A-4147-A177-3AD203B41FA5}">
                      <a16:colId xmlns:a16="http://schemas.microsoft.com/office/drawing/2014/main" val="28849002"/>
                    </a:ext>
                  </a:extLst>
                </a:gridCol>
                <a:gridCol w="1122218">
                  <a:extLst>
                    <a:ext uri="{9D8B030D-6E8A-4147-A177-3AD203B41FA5}">
                      <a16:colId xmlns:a16="http://schemas.microsoft.com/office/drawing/2014/main" val="1632799852"/>
                    </a:ext>
                  </a:extLst>
                </a:gridCol>
                <a:gridCol w="922713">
                  <a:extLst>
                    <a:ext uri="{9D8B030D-6E8A-4147-A177-3AD203B41FA5}">
                      <a16:colId xmlns:a16="http://schemas.microsoft.com/office/drawing/2014/main" val="386520529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36445983"/>
                    </a:ext>
                  </a:extLst>
                </a:gridCol>
                <a:gridCol w="756458">
                  <a:extLst>
                    <a:ext uri="{9D8B030D-6E8A-4147-A177-3AD203B41FA5}">
                      <a16:colId xmlns:a16="http://schemas.microsoft.com/office/drawing/2014/main" val="958058384"/>
                    </a:ext>
                  </a:extLst>
                </a:gridCol>
                <a:gridCol w="822320">
                  <a:extLst>
                    <a:ext uri="{9D8B030D-6E8A-4147-A177-3AD203B41FA5}">
                      <a16:colId xmlns:a16="http://schemas.microsoft.com/office/drawing/2014/main" val="1271746523"/>
                    </a:ext>
                  </a:extLst>
                </a:gridCol>
              </a:tblGrid>
              <a:tr h="659035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Median PaCO2 (IQR)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TcCO2 </a:t>
                      </a:r>
                    </a:p>
                    <a:p>
                      <a:pPr algn="ctr"/>
                      <a:r>
                        <a:rPr lang="en-US" sz="1050" dirty="0"/>
                        <a:t>False Positives </a:t>
                      </a:r>
                      <a:r>
                        <a:rPr lang="en-US" sz="1000" dirty="0"/>
                        <a:t>(PaCO2&lt;45 TcCO2&gt;45)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TcCO2</a:t>
                      </a:r>
                    </a:p>
                    <a:p>
                      <a:pPr algn="ctr"/>
                      <a:r>
                        <a:rPr lang="en-US" sz="1050" dirty="0"/>
                        <a:t>False Negatives</a:t>
                      </a:r>
                    </a:p>
                    <a:p>
                      <a:pPr algn="ctr"/>
                      <a:r>
                        <a:rPr lang="en-US" sz="1000" dirty="0"/>
                        <a:t>(PaCO2&gt;45 TcCO2&gt;45)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TcCO2</a:t>
                      </a:r>
                    </a:p>
                    <a:p>
                      <a:pPr algn="ctr"/>
                      <a:r>
                        <a:rPr lang="en-US" sz="1050" dirty="0"/>
                        <a:t>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TcCO2</a:t>
                      </a:r>
                    </a:p>
                    <a:p>
                      <a:pPr algn="ctr"/>
                      <a:r>
                        <a:rPr lang="en-US" sz="1050" dirty="0"/>
                        <a:t>Specificity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TcCO2</a:t>
                      </a:r>
                    </a:p>
                    <a:p>
                      <a:pPr algn="ctr"/>
                      <a:r>
                        <a:rPr lang="en-US" sz="1050" dirty="0"/>
                        <a:t>PPV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TcCO2</a:t>
                      </a:r>
                    </a:p>
                    <a:p>
                      <a:pPr algn="ctr"/>
                      <a:r>
                        <a:rPr lang="en-US" sz="1050" dirty="0"/>
                        <a:t>NPV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456619"/>
                  </a:ext>
                </a:extLst>
              </a:tr>
              <a:tr h="26497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Ambulatory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40.0 (35.7, 45)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96.3%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786953"/>
                  </a:ext>
                </a:extLst>
              </a:tr>
              <a:tr h="279901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Inpatient/ED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40.0 (35, 46)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92.8%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410772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ICU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39.0 (33, 47.2)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96.7%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97848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76A6126-E798-03E5-EFE6-D86A1CEAD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8634" y="2319434"/>
            <a:ext cx="4236099" cy="282406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8965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C4464-56C3-3790-F984-B9C5FCC68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65BF2-8DDB-C1A9-9DF9-3D4EDA118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21DCE3-4D8F-1C04-A08A-E9DABEFC8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3604" y="995590"/>
            <a:ext cx="5625140" cy="375009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27547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C983A-1073-E7DC-FECE-AAAD26BB5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C9926-C919-0F8D-7D97-4B23AC81D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</a:t>
            </a:r>
            <a:br>
              <a:rPr lang="en-US" dirty="0"/>
            </a:br>
            <a:r>
              <a:rPr lang="en-US" sz="2000" b="0" dirty="0"/>
              <a:t>(TcCO2 cutoffs of ≤40 and ≥50)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2A595F-2713-9926-9480-3DC526840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910173"/>
              </p:ext>
            </p:extLst>
          </p:nvPr>
        </p:nvGraphicFramePr>
        <p:xfrm>
          <a:off x="4845269" y="1577162"/>
          <a:ext cx="4183401" cy="2596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148">
                  <a:extLst>
                    <a:ext uri="{9D8B030D-6E8A-4147-A177-3AD203B41FA5}">
                      <a16:colId xmlns:a16="http://schemas.microsoft.com/office/drawing/2014/main" val="3833142152"/>
                    </a:ext>
                  </a:extLst>
                </a:gridCol>
                <a:gridCol w="1108285">
                  <a:extLst>
                    <a:ext uri="{9D8B030D-6E8A-4147-A177-3AD203B41FA5}">
                      <a16:colId xmlns:a16="http://schemas.microsoft.com/office/drawing/2014/main" val="28849002"/>
                    </a:ext>
                  </a:extLst>
                </a:gridCol>
                <a:gridCol w="527405">
                  <a:extLst>
                    <a:ext uri="{9D8B030D-6E8A-4147-A177-3AD203B41FA5}">
                      <a16:colId xmlns:a16="http://schemas.microsoft.com/office/drawing/2014/main" val="217335976"/>
                    </a:ext>
                  </a:extLst>
                </a:gridCol>
                <a:gridCol w="1189593">
                  <a:extLst>
                    <a:ext uri="{9D8B030D-6E8A-4147-A177-3AD203B41FA5}">
                      <a16:colId xmlns:a16="http://schemas.microsoft.com/office/drawing/2014/main" val="1632799852"/>
                    </a:ext>
                  </a:extLst>
                </a:gridCol>
                <a:gridCol w="574970">
                  <a:extLst>
                    <a:ext uri="{9D8B030D-6E8A-4147-A177-3AD203B41FA5}">
                      <a16:colId xmlns:a16="http://schemas.microsoft.com/office/drawing/2014/main" val="3086690498"/>
                    </a:ext>
                  </a:extLst>
                </a:gridCol>
              </a:tblGrid>
              <a:tr h="550439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TcCO2 </a:t>
                      </a:r>
                    </a:p>
                    <a:p>
                      <a:pPr algn="ctr"/>
                      <a:r>
                        <a:rPr lang="en-US" sz="1200" dirty="0"/>
                        <a:t>False Positives </a:t>
                      </a:r>
                      <a:r>
                        <a:rPr lang="en-US" sz="1000" dirty="0"/>
                        <a:t>(PaCO2&lt;45 TcCO2&gt;50)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  <a:p>
                      <a:pPr algn="ctr"/>
                      <a:r>
                        <a:rPr lang="en-US" sz="1200" dirty="0"/>
                        <a:t>+ 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TcCO2 </a:t>
                      </a:r>
                    </a:p>
                    <a:p>
                      <a:pPr algn="ctr"/>
                      <a:r>
                        <a:rPr lang="en-US" sz="1200" dirty="0"/>
                        <a:t>False Negatives </a:t>
                      </a:r>
                      <a:r>
                        <a:rPr lang="en-US" sz="1000" dirty="0"/>
                        <a:t>(PaCO2&gt;45 TcCO2&lt;40)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  <a:p>
                      <a:pPr algn="ctr"/>
                      <a:r>
                        <a:rPr lang="en-US" sz="1200" dirty="0"/>
                        <a:t>- LR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456619"/>
                  </a:ext>
                </a:extLst>
              </a:tr>
              <a:tr h="446467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Amb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0.06%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461</a:t>
                      </a:r>
                      <a:endParaRPr lang="en-US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0.00%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0.000</a:t>
                      </a:r>
                      <a:endParaRPr lang="en-US" sz="105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786953"/>
                  </a:ext>
                </a:extLst>
              </a:tr>
              <a:tr h="446467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Inp/ED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0.05%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1056</a:t>
                      </a:r>
                      <a:endParaRPr lang="en-US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0.46%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0.0187</a:t>
                      </a:r>
                      <a:endParaRPr lang="en-US" sz="105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410772"/>
                  </a:ext>
                </a:extLst>
              </a:tr>
              <a:tr h="495395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ICU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0.09%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551</a:t>
                      </a:r>
                      <a:endParaRPr lang="en-US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0.05%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0.0011</a:t>
                      </a:r>
                      <a:endParaRPr lang="en-US" sz="105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978485"/>
                  </a:ext>
                </a:extLst>
              </a:tr>
              <a:tr h="446467"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Sens/Spec/PPV/NPV all &gt;99%</a:t>
                      </a:r>
                      <a:endParaRPr lang="en-US" sz="1200" dirty="0"/>
                    </a:p>
                  </a:txBody>
                  <a:tcPr>
                    <a:solidFill>
                      <a:srgbClr val="E9ECF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>
                    <a:solidFill>
                      <a:srgbClr val="E9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30062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830581E-A97C-BC97-AE15-B758BB347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97188"/>
            <a:ext cx="4624552" cy="311631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9203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CF5AA-56D7-290C-3D64-A4986C18B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9AFE5-0009-99EC-A951-A791B5D2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1273FEE-BFCB-FAC1-67F1-990CBF66D5B2}"/>
              </a:ext>
            </a:extLst>
          </p:cNvPr>
          <p:cNvSpPr txBox="1">
            <a:spLocks/>
          </p:cNvSpPr>
          <p:nvPr/>
        </p:nvSpPr>
        <p:spPr>
          <a:xfrm>
            <a:off x="114559" y="1107688"/>
            <a:ext cx="8486749" cy="3128556"/>
          </a:xfrm>
          <a:prstGeom prst="rect">
            <a:avLst/>
          </a:prstGeom>
        </p:spPr>
        <p:txBody>
          <a:bodyPr/>
          <a:lstStyle>
            <a:lvl1pPr marL="234950" indent="-2349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Wingdings" pitchFamily="2" charset="2"/>
              <a:buChar char="§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22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System Font Regular"/>
              <a:buChar char="-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88925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SzPct val="90000"/>
              <a:buFont typeface="Lucida Grande" panose="020B0600040502020204" pitchFamily="34" charset="0"/>
              <a:buChar char="✓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is an </a:t>
            </a:r>
            <a:r>
              <a:rPr lang="en-US" u="sng" dirty="0"/>
              <a:t>estimation</a:t>
            </a:r>
            <a:r>
              <a:rPr lang="en-US" dirty="0"/>
              <a:t> of the accuracy for identification of hypercapnia if applied broadly to all situations where ABGs are currently obtained so difference from actual </a:t>
            </a:r>
            <a:r>
              <a:rPr lang="en-US" u="sng" dirty="0"/>
              <a:t>observed</a:t>
            </a:r>
            <a:r>
              <a:rPr lang="en-US" dirty="0"/>
              <a:t> accuracy is possible.</a:t>
            </a:r>
          </a:p>
          <a:p>
            <a:r>
              <a:rPr lang="en-US" dirty="0"/>
              <a:t>Although ventilation is a continuum we are limiting evaluation of hypercapnia as a dichotomous variable that likely reflects typical decision making (&lt; vs &gt; 45) but this may vary. </a:t>
            </a:r>
          </a:p>
          <a:p>
            <a:r>
              <a:rPr lang="en-US" dirty="0"/>
              <a:t>Modeling assumes a normal distribution of error in TcCO2-PaCO2 disagreement but this may be an inaccurate assumption. </a:t>
            </a:r>
          </a:p>
          <a:p>
            <a:r>
              <a:rPr lang="en-US" dirty="0"/>
              <a:t>Specific physiologic states (</a:t>
            </a:r>
            <a:r>
              <a:rPr lang="en-US" dirty="0" err="1"/>
              <a:t>ie</a:t>
            </a:r>
            <a:r>
              <a:rPr lang="en-US" dirty="0"/>
              <a:t> shock), different devices not tested.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5265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29E5E-5C9C-645C-EAFB-C1915DBD2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3117A-BBEE-14CC-E569-4BF6626C9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9EACAFD-69E1-1B5B-413E-072E5135CE4B}"/>
              </a:ext>
            </a:extLst>
          </p:cNvPr>
          <p:cNvSpPr txBox="1">
            <a:spLocks/>
          </p:cNvSpPr>
          <p:nvPr/>
        </p:nvSpPr>
        <p:spPr>
          <a:xfrm>
            <a:off x="114559" y="1107688"/>
            <a:ext cx="8486749" cy="3128556"/>
          </a:xfrm>
          <a:prstGeom prst="rect">
            <a:avLst/>
          </a:prstGeom>
        </p:spPr>
        <p:txBody>
          <a:bodyPr/>
          <a:lstStyle>
            <a:lvl1pPr marL="234950" indent="-2349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Wingdings" pitchFamily="2" charset="2"/>
              <a:buChar char="§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22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System Font Regular"/>
              <a:buChar char="-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88925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SzPct val="90000"/>
              <a:buFont typeface="Lucida Grande" panose="020B0600040502020204" pitchFamily="34" charset="0"/>
              <a:buChar char="✓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TcCO2 seems unlikely to make large mistakes in classification of ventilation status and thus may be useful in evaluating for hypercapnia when downsides of arterial sampling are prohibitive.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8506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55DCD-706A-FCED-8ED4-0BF8817BB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B718D-F65D-4808-B046-365655A8E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Acknowledgments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7E53236-F4C5-D6D8-E998-002331AB2CC3}"/>
              </a:ext>
            </a:extLst>
          </p:cNvPr>
          <p:cNvSpPr txBox="1">
            <a:spLocks/>
          </p:cNvSpPr>
          <p:nvPr/>
        </p:nvSpPr>
        <p:spPr>
          <a:xfrm>
            <a:off x="114559" y="1107688"/>
            <a:ext cx="8486749" cy="3128556"/>
          </a:xfrm>
          <a:prstGeom prst="rect">
            <a:avLst/>
          </a:prstGeom>
        </p:spPr>
        <p:txBody>
          <a:bodyPr/>
          <a:lstStyle>
            <a:lvl1pPr marL="234950" indent="-2349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Wingdings" pitchFamily="2" charset="2"/>
              <a:buChar char="§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22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System Font Regular"/>
              <a:buChar char="-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88925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SzPct val="90000"/>
              <a:buFont typeface="Lucida Grande" panose="020B0600040502020204" pitchFamily="34" charset="0"/>
              <a:buChar char="✓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Brian Locke, MD MSCI</a:t>
            </a:r>
          </a:p>
          <a:p>
            <a:r>
              <a:rPr lang="en-US" dirty="0"/>
              <a:t>Jeanette Brown, MD PhD</a:t>
            </a:r>
          </a:p>
          <a:p>
            <a:r>
              <a:rPr lang="en-US" dirty="0" err="1"/>
              <a:t>Ramkiran</a:t>
            </a:r>
            <a:r>
              <a:rPr lang="en-US" dirty="0"/>
              <a:t> </a:t>
            </a:r>
            <a:r>
              <a:rPr lang="en-US" dirty="0" err="1"/>
              <a:t>Gouripeddi</a:t>
            </a:r>
            <a:r>
              <a:rPr lang="en-US" dirty="0"/>
              <a:t>, MBBS MSc</a:t>
            </a:r>
          </a:p>
          <a:p>
            <a:r>
              <a:rPr lang="en-US" dirty="0"/>
              <a:t>Wayne Richards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8924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E0C8A-2746-494F-8C1B-CF6E8E27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2005134"/>
            <a:ext cx="8496300" cy="1133232"/>
          </a:xfrm>
        </p:spPr>
        <p:txBody>
          <a:bodyPr>
            <a:normAutofit fontScale="90000"/>
          </a:bodyPr>
          <a:lstStyle/>
          <a:p>
            <a:r>
              <a:rPr lang="en-US" dirty="0"/>
              <a:t>Thank You!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Don’t forget to evaluate this session in the app.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26501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0DE46785-976E-6D4C-A1D0-EA09DC52AF8A}" vid="{214969C1-569A-1D4C-BD36-02B05436AA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13215</TotalTime>
  <Words>796</Words>
  <Application>Microsoft Macintosh PowerPoint</Application>
  <PresentationFormat>On-screen Show (16:9)</PresentationFormat>
  <Paragraphs>149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Lucida Grande</vt:lpstr>
      <vt:lpstr>System Font Regular</vt:lpstr>
      <vt:lpstr>Times</vt:lpstr>
      <vt:lpstr>Verdana</vt:lpstr>
      <vt:lpstr>Wingdings</vt:lpstr>
      <vt:lpstr>Office Theme</vt:lpstr>
      <vt:lpstr>Session 482 - Strategies to Improve Care for Advanced Chronic Respiratory Diseases   SIMULATION SUGGESTS TRANSCUTANEOUS CO2 SENSORS MAY ACCURATELY DETECT HYPERCAPNIA ACROSS SETTINGS</vt:lpstr>
      <vt:lpstr>Dustin Anderson-Bell, MD  </vt:lpstr>
      <vt:lpstr>Financial Disclosure</vt:lpstr>
      <vt:lpstr>Lesson Objectives</vt:lpstr>
      <vt:lpstr>Background</vt:lpstr>
      <vt:lpstr>Relevant prior work</vt:lpstr>
      <vt:lpstr>Aim of current analysis</vt:lpstr>
      <vt:lpstr>Methods</vt:lpstr>
      <vt:lpstr>Results</vt:lpstr>
      <vt:lpstr>Results</vt:lpstr>
      <vt:lpstr>Results  (TcCO2 cutoffs of ≤40 and ≥50)</vt:lpstr>
      <vt:lpstr>Limitations</vt:lpstr>
      <vt:lpstr>Conclusions</vt:lpstr>
      <vt:lpstr>Acknowledgments </vt:lpstr>
      <vt:lpstr>Thank You!  Don’t forget to evaluate this session in the app.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Claudia Egresits</dc:creator>
  <cp:lastModifiedBy>Dustin Anderson-Bell</cp:lastModifiedBy>
  <cp:revision>336</cp:revision>
  <dcterms:created xsi:type="dcterms:W3CDTF">2019-04-08T16:27:28Z</dcterms:created>
  <dcterms:modified xsi:type="dcterms:W3CDTF">2025-10-15T19:21:14Z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A0333BCB-6BD8-4D28-9501-F6B021A42642</vt:lpwstr>
  </property>
  <property fmtid="{D5CDD505-2E9C-101B-9397-08002B2CF9AE}" pid="3" name="ArticulatePath">
    <vt:lpwstr>16x9 CHEST Master Template_2021 LIGHT</vt:lpwstr>
  </property>
</Properties>
</file>