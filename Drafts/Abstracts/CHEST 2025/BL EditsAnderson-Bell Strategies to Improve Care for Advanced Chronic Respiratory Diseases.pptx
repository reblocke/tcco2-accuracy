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notesSlides/notesSlide2.xml" ContentType="application/vnd.openxmlformats-officedocument.presentationml.notesSlide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tags/tag9.xml" ContentType="application/vnd.openxmlformats-officedocument.presentationml.tags+xml"/>
  <Override PartName="/ppt/notesSlides/notesSlide3.xml" ContentType="application/vnd.openxmlformats-officedocument.presentationml.notesSlide+xml"/>
  <Override PartName="/ppt/tags/tag10.xml" ContentType="application/vnd.openxmlformats-officedocument.presentationml.tags+xml"/>
  <Override PartName="/ppt/notesSlides/notesSlide4.xml" ContentType="application/vnd.openxmlformats-officedocument.presentationml.notesSlide+xml"/>
  <Override PartName="/ppt/tags/tag11.xml" ContentType="application/vnd.openxmlformats-officedocument.presentationml.tags+xml"/>
  <Override PartName="/ppt/notesSlides/notesSlide5.xml" ContentType="application/vnd.openxmlformats-officedocument.presentationml.notesSlide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6" r:id="rId1"/>
  </p:sldMasterIdLst>
  <p:notesMasterIdLst>
    <p:notesMasterId r:id="rId15"/>
  </p:notesMasterIdLst>
  <p:sldIdLst>
    <p:sldId id="256" r:id="rId2"/>
    <p:sldId id="277" r:id="rId3"/>
    <p:sldId id="274" r:id="rId4"/>
    <p:sldId id="257" r:id="rId5"/>
    <p:sldId id="261" r:id="rId6"/>
    <p:sldId id="278" r:id="rId7"/>
    <p:sldId id="279" r:id="rId8"/>
    <p:sldId id="280" r:id="rId9"/>
    <p:sldId id="281" r:id="rId10"/>
    <p:sldId id="284" r:id="rId11"/>
    <p:sldId id="285" r:id="rId12"/>
    <p:sldId id="282" r:id="rId13"/>
    <p:sldId id="272" r:id="rId14"/>
  </p:sldIdLst>
  <p:sldSz cx="9144000" cy="5143500" type="screen16x9"/>
  <p:notesSz cx="6858000" cy="9144000"/>
  <p:custDataLst>
    <p:tags r:id="rId16"/>
  </p:custDataLst>
  <p:defaultTextStyle>
    <a:defPPr>
      <a:defRPr lang="en-US"/>
    </a:defPPr>
    <a:lvl1pPr marL="0" algn="l" defTabSz="685783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1pPr>
    <a:lvl2pPr marL="342892" algn="l" defTabSz="685783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2pPr>
    <a:lvl3pPr marL="685783" algn="l" defTabSz="685783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3pPr>
    <a:lvl4pPr marL="1028675" algn="l" defTabSz="685783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4pPr>
    <a:lvl5pPr marL="1371566" algn="l" defTabSz="685783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5pPr>
    <a:lvl6pPr marL="1714457" algn="l" defTabSz="685783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6pPr>
    <a:lvl7pPr marL="2057348" algn="l" defTabSz="685783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7pPr>
    <a:lvl8pPr marL="2400240" algn="l" defTabSz="685783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8pPr>
    <a:lvl9pPr marL="2743132" algn="l" defTabSz="685783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708" userDrawn="1">
          <p15:clr>
            <a:srgbClr val="A4A3A4"/>
          </p15:clr>
        </p15:guide>
        <p15:guide id="2" pos="192" userDrawn="1">
          <p15:clr>
            <a:srgbClr val="A4A3A4"/>
          </p15:clr>
        </p15:guide>
        <p15:guide id="3" pos="5496" userDrawn="1">
          <p15:clr>
            <a:srgbClr val="A4A3A4"/>
          </p15:clr>
        </p15:guide>
        <p15:guide id="4" orient="horz" pos="118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9ECF5"/>
    <a:srgbClr val="FF0000"/>
    <a:srgbClr val="172C51"/>
    <a:srgbClr val="4472C4"/>
    <a:srgbClr val="54585A"/>
    <a:srgbClr val="787B7D"/>
    <a:srgbClr val="FFFFFF"/>
    <a:srgbClr val="000000"/>
    <a:srgbClr val="A2AAA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558"/>
    <p:restoredTop sz="94635"/>
  </p:normalViewPr>
  <p:slideViewPr>
    <p:cSldViewPr snapToGrid="0" snapToObjects="1" showGuides="1">
      <p:cViewPr varScale="1">
        <p:scale>
          <a:sx n="160" d="100"/>
          <a:sy n="160" d="100"/>
        </p:scale>
        <p:origin x="592" y="168"/>
      </p:cViewPr>
      <p:guideLst>
        <p:guide orient="horz" pos="708"/>
        <p:guide pos="192"/>
        <p:guide pos="5496"/>
        <p:guide orient="horz" pos="1188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tags" Target="tags/tag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891AF08-C1E2-9242-807F-03545FDCB114}" type="doc">
      <dgm:prSet loTypeId="urn:microsoft.com/office/officeart/2005/8/layout/process1" loCatId="" qsTypeId="urn:microsoft.com/office/officeart/2005/8/quickstyle/simple1" qsCatId="simple" csTypeId="urn:microsoft.com/office/officeart/2005/8/colors/accent1_2" csCatId="accent1" phldr="1"/>
      <dgm:spPr/>
    </dgm:pt>
    <dgm:pt modelId="{7FDB3FF9-1B6C-B34A-901E-8CA9C4A76C7F}">
      <dgm:prSet phldrT="[Text]" custT="1"/>
      <dgm:spPr>
        <a:solidFill>
          <a:srgbClr val="0E0062"/>
        </a:solidFill>
      </dgm:spPr>
      <dgm:t>
        <a:bodyPr/>
        <a:lstStyle/>
        <a:p>
          <a:r>
            <a:rPr lang="en-US" sz="1050" b="1" u="sng" dirty="0" err="1"/>
            <a:t>TriNetX</a:t>
          </a:r>
          <a:r>
            <a:rPr lang="en-US" sz="1050" b="1" u="sng" dirty="0"/>
            <a:t> Database</a:t>
          </a:r>
          <a:endParaRPr lang="en-US" sz="1050" dirty="0"/>
        </a:p>
        <a:p>
          <a:r>
            <a:rPr lang="en-US" sz="1050" dirty="0"/>
            <a:t>- 76 medical centers </a:t>
          </a:r>
        </a:p>
        <a:p>
          <a:r>
            <a:rPr lang="en-US" sz="1050" dirty="0"/>
            <a:t>- 115 million patients</a:t>
          </a:r>
        </a:p>
        <a:p>
          <a:r>
            <a:rPr lang="en-US" sz="1050" dirty="0"/>
            <a:t>- All encounters 01/01/22 – 12/31/22 with an ABG</a:t>
          </a:r>
        </a:p>
      </dgm:t>
    </dgm:pt>
    <dgm:pt modelId="{459173B3-C292-DE4C-88E3-8695CFCBFC7B}" type="parTrans" cxnId="{90145210-4CB8-234A-9124-9DDF889A51B7}">
      <dgm:prSet/>
      <dgm:spPr/>
      <dgm:t>
        <a:bodyPr/>
        <a:lstStyle/>
        <a:p>
          <a:endParaRPr lang="en-US"/>
        </a:p>
      </dgm:t>
    </dgm:pt>
    <dgm:pt modelId="{1F739250-5918-C74E-9F30-C741C3DD858C}" type="sibTrans" cxnId="{90145210-4CB8-234A-9124-9DDF889A51B7}">
      <dgm:prSet custT="1"/>
      <dgm:spPr>
        <a:solidFill>
          <a:schemeClr val="tx1"/>
        </a:solidFill>
      </dgm:spPr>
      <dgm:t>
        <a:bodyPr/>
        <a:lstStyle/>
        <a:p>
          <a:endParaRPr lang="en-US" sz="4000"/>
        </a:p>
      </dgm:t>
    </dgm:pt>
    <dgm:pt modelId="{7161299D-F71F-2644-80CE-25ABBBAB806E}">
      <dgm:prSet phldrT="[Text]" custT="1"/>
      <dgm:spPr>
        <a:solidFill>
          <a:srgbClr val="0E0062"/>
        </a:solidFill>
      </dgm:spPr>
      <dgm:t>
        <a:bodyPr/>
        <a:lstStyle/>
        <a:p>
          <a:pPr algn="ctr"/>
          <a:r>
            <a:rPr lang="en-US" sz="1100" b="1" u="sng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rPr>
            <a:t>197,698 ABGs </a:t>
          </a:r>
          <a:endParaRPr lang="en-US" sz="1100" dirty="0">
            <a:solidFill>
              <a:schemeClr val="bg1"/>
            </a:solidFill>
            <a:latin typeface="Calibri" panose="020F0502020204030204" pitchFamily="34" charset="0"/>
            <a:cs typeface="Calibri" panose="020F0502020204030204" pitchFamily="34" charset="0"/>
          </a:endParaRPr>
        </a:p>
        <a:p>
          <a:pPr algn="ctr"/>
          <a:r>
            <a:rPr lang="en-US" sz="110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rPr>
            <a:t>- 55% male</a:t>
          </a:r>
        </a:p>
        <a:p>
          <a:pPr algn="ctr"/>
          <a:r>
            <a:rPr lang="en-US" sz="110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rPr>
            <a:t>- 65% white, 14% Black, 4% </a:t>
          </a:r>
          <a:r>
            <a:rPr lang="en-US" sz="1100" dirty="0" err="1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rPr>
            <a:t>hispanic</a:t>
          </a:r>
          <a:endParaRPr lang="en-US" sz="1100" dirty="0">
            <a:solidFill>
              <a:schemeClr val="bg1"/>
            </a:solidFill>
            <a:latin typeface="Calibri" panose="020F0502020204030204" pitchFamily="34" charset="0"/>
            <a:cs typeface="Calibri" panose="020F0502020204030204" pitchFamily="34" charset="0"/>
          </a:endParaRPr>
        </a:p>
        <a:p>
          <a:pPr algn="ctr"/>
          <a:r>
            <a:rPr lang="en-US" sz="110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rPr>
            <a:t>- Age =  61 ± 17 years</a:t>
          </a:r>
          <a:endParaRPr lang="en-US" sz="1100" dirty="0"/>
        </a:p>
        <a:p>
          <a:pPr algn="ctr"/>
          <a:r>
            <a:rPr lang="en-US" sz="110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rPr>
            <a:t>- 31% Invasive ventilation</a:t>
          </a:r>
          <a:endParaRPr lang="en-US" sz="1100" dirty="0"/>
        </a:p>
      </dgm:t>
    </dgm:pt>
    <dgm:pt modelId="{8D1150E4-5B54-4449-99B3-53238364BC63}" type="parTrans" cxnId="{6D89DA65-ED53-E547-AD3E-5D6B6657E457}">
      <dgm:prSet/>
      <dgm:spPr/>
      <dgm:t>
        <a:bodyPr/>
        <a:lstStyle/>
        <a:p>
          <a:endParaRPr lang="en-US"/>
        </a:p>
      </dgm:t>
    </dgm:pt>
    <dgm:pt modelId="{8C5930B9-C489-354B-861D-08615C39E94C}" type="sibTrans" cxnId="{6D89DA65-ED53-E547-AD3E-5D6B6657E457}">
      <dgm:prSet/>
      <dgm:spPr/>
      <dgm:t>
        <a:bodyPr/>
        <a:lstStyle/>
        <a:p>
          <a:endParaRPr lang="en-US"/>
        </a:p>
      </dgm:t>
    </dgm:pt>
    <dgm:pt modelId="{79C4A986-283C-9E40-B379-049A17D12243}" type="pres">
      <dgm:prSet presAssocID="{B891AF08-C1E2-9242-807F-03545FDCB114}" presName="Name0" presStyleCnt="0">
        <dgm:presLayoutVars>
          <dgm:dir/>
          <dgm:resizeHandles val="exact"/>
        </dgm:presLayoutVars>
      </dgm:prSet>
      <dgm:spPr/>
    </dgm:pt>
    <dgm:pt modelId="{896C53E8-46D3-1C46-992A-503FF6815B43}" type="pres">
      <dgm:prSet presAssocID="{7FDB3FF9-1B6C-B34A-901E-8CA9C4A76C7F}" presName="node" presStyleLbl="node1" presStyleIdx="0" presStyleCnt="2" custScaleX="70591">
        <dgm:presLayoutVars>
          <dgm:bulletEnabled val="1"/>
        </dgm:presLayoutVars>
      </dgm:prSet>
      <dgm:spPr/>
    </dgm:pt>
    <dgm:pt modelId="{4FDA0352-93E7-F54F-8873-999C2F44F1D7}" type="pres">
      <dgm:prSet presAssocID="{1F739250-5918-C74E-9F30-C741C3DD858C}" presName="sibTrans" presStyleLbl="sibTrans2D1" presStyleIdx="0" presStyleCnt="1" custScaleX="144167" custScaleY="54890" custLinFactNeighborX="9242" custLinFactNeighborY="-10113"/>
      <dgm:spPr>
        <a:prstGeom prst="mathMinus">
          <a:avLst/>
        </a:prstGeom>
      </dgm:spPr>
    </dgm:pt>
    <dgm:pt modelId="{26C9BE09-0171-5A4C-8206-32C2CF960BE5}" type="pres">
      <dgm:prSet presAssocID="{1F739250-5918-C74E-9F30-C741C3DD858C}" presName="connectorText" presStyleLbl="sibTrans2D1" presStyleIdx="0" presStyleCnt="1"/>
      <dgm:spPr/>
    </dgm:pt>
    <dgm:pt modelId="{F7B64E8F-AE7E-0E4B-A776-C6FECE773861}" type="pres">
      <dgm:prSet presAssocID="{7161299D-F71F-2644-80CE-25ABBBAB806E}" presName="node" presStyleLbl="node1" presStyleIdx="1" presStyleCnt="2" custScaleX="67966" custLinFactNeighborX="-93791" custLinFactNeighborY="45">
        <dgm:presLayoutVars>
          <dgm:bulletEnabled val="1"/>
        </dgm:presLayoutVars>
      </dgm:prSet>
      <dgm:spPr/>
    </dgm:pt>
  </dgm:ptLst>
  <dgm:cxnLst>
    <dgm:cxn modelId="{90145210-4CB8-234A-9124-9DDF889A51B7}" srcId="{B891AF08-C1E2-9242-807F-03545FDCB114}" destId="{7FDB3FF9-1B6C-B34A-901E-8CA9C4A76C7F}" srcOrd="0" destOrd="0" parTransId="{459173B3-C292-DE4C-88E3-8695CFCBFC7B}" sibTransId="{1F739250-5918-C74E-9F30-C741C3DD858C}"/>
    <dgm:cxn modelId="{6D89DA65-ED53-E547-AD3E-5D6B6657E457}" srcId="{B891AF08-C1E2-9242-807F-03545FDCB114}" destId="{7161299D-F71F-2644-80CE-25ABBBAB806E}" srcOrd="1" destOrd="0" parTransId="{8D1150E4-5B54-4449-99B3-53238364BC63}" sibTransId="{8C5930B9-C489-354B-861D-08615C39E94C}"/>
    <dgm:cxn modelId="{AC56CB6D-471E-6C49-9D9C-F034E4E60AC3}" type="presOf" srcId="{B891AF08-C1E2-9242-807F-03545FDCB114}" destId="{79C4A986-283C-9E40-B379-049A17D12243}" srcOrd="0" destOrd="0" presId="urn:microsoft.com/office/officeart/2005/8/layout/process1"/>
    <dgm:cxn modelId="{092390A1-C858-2942-B601-70835962410F}" type="presOf" srcId="{7FDB3FF9-1B6C-B34A-901E-8CA9C4A76C7F}" destId="{896C53E8-46D3-1C46-992A-503FF6815B43}" srcOrd="0" destOrd="0" presId="urn:microsoft.com/office/officeart/2005/8/layout/process1"/>
    <dgm:cxn modelId="{ADA4F8AE-6892-0548-9225-D69DFE97D409}" type="presOf" srcId="{7161299D-F71F-2644-80CE-25ABBBAB806E}" destId="{F7B64E8F-AE7E-0E4B-A776-C6FECE773861}" srcOrd="0" destOrd="0" presId="urn:microsoft.com/office/officeart/2005/8/layout/process1"/>
    <dgm:cxn modelId="{DCB6DCDA-92EF-FE4A-B8F5-222D7F146DFB}" type="presOf" srcId="{1F739250-5918-C74E-9F30-C741C3DD858C}" destId="{26C9BE09-0171-5A4C-8206-32C2CF960BE5}" srcOrd="1" destOrd="0" presId="urn:microsoft.com/office/officeart/2005/8/layout/process1"/>
    <dgm:cxn modelId="{6F901AE2-F1BC-6048-B11E-323CBBFC40D7}" type="presOf" srcId="{1F739250-5918-C74E-9F30-C741C3DD858C}" destId="{4FDA0352-93E7-F54F-8873-999C2F44F1D7}" srcOrd="0" destOrd="0" presId="urn:microsoft.com/office/officeart/2005/8/layout/process1"/>
    <dgm:cxn modelId="{78DD79A7-553D-2946-ADD0-3D2B0592231C}" type="presParOf" srcId="{79C4A986-283C-9E40-B379-049A17D12243}" destId="{896C53E8-46D3-1C46-992A-503FF6815B43}" srcOrd="0" destOrd="0" presId="urn:microsoft.com/office/officeart/2005/8/layout/process1"/>
    <dgm:cxn modelId="{C53B754E-6F57-2249-9863-E9A2066320ED}" type="presParOf" srcId="{79C4A986-283C-9E40-B379-049A17D12243}" destId="{4FDA0352-93E7-F54F-8873-999C2F44F1D7}" srcOrd="1" destOrd="0" presId="urn:microsoft.com/office/officeart/2005/8/layout/process1"/>
    <dgm:cxn modelId="{99DF3264-326D-2D45-B0AE-79A99D2DD47F}" type="presParOf" srcId="{4FDA0352-93E7-F54F-8873-999C2F44F1D7}" destId="{26C9BE09-0171-5A4C-8206-32C2CF960BE5}" srcOrd="0" destOrd="0" presId="urn:microsoft.com/office/officeart/2005/8/layout/process1"/>
    <dgm:cxn modelId="{851F7B72-628E-1D4A-BC5B-5D7B50F9198B}" type="presParOf" srcId="{79C4A986-283C-9E40-B379-049A17D12243}" destId="{F7B64E8F-AE7E-0E4B-A776-C6FECE773861}" srcOrd="2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96C53E8-46D3-1C46-992A-503FF6815B43}">
      <dsp:nvSpPr>
        <dsp:cNvPr id="0" name=""/>
        <dsp:cNvSpPr/>
      </dsp:nvSpPr>
      <dsp:spPr>
        <a:xfrm>
          <a:off x="1920" y="178955"/>
          <a:ext cx="1789313" cy="1520857"/>
        </a:xfrm>
        <a:prstGeom prst="roundRect">
          <a:avLst>
            <a:gd name="adj" fmla="val 10000"/>
          </a:avLst>
        </a:prstGeom>
        <a:solidFill>
          <a:srgbClr val="0E0062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50" b="1" u="sng" kern="1200" dirty="0" err="1"/>
            <a:t>TriNetX</a:t>
          </a:r>
          <a:r>
            <a:rPr lang="en-US" sz="1050" b="1" u="sng" kern="1200" dirty="0"/>
            <a:t> Database</a:t>
          </a:r>
          <a:endParaRPr lang="en-US" sz="1050" kern="1200" dirty="0"/>
        </a:p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50" kern="1200" dirty="0"/>
            <a:t>- 76 medical centers </a:t>
          </a:r>
        </a:p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50" kern="1200" dirty="0"/>
            <a:t>- 115 million patients</a:t>
          </a:r>
        </a:p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50" kern="1200" dirty="0"/>
            <a:t>- All encounters 01/01/22 – 12/31/22 with an ABG</a:t>
          </a:r>
        </a:p>
      </dsp:txBody>
      <dsp:txXfrm>
        <a:off x="46464" y="223499"/>
        <a:ext cx="1700225" cy="1431769"/>
      </dsp:txXfrm>
    </dsp:sp>
    <dsp:sp modelId="{4FDA0352-93E7-F54F-8873-999C2F44F1D7}">
      <dsp:nvSpPr>
        <dsp:cNvPr id="0" name=""/>
        <dsp:cNvSpPr/>
      </dsp:nvSpPr>
      <dsp:spPr>
        <a:xfrm rot="1115">
          <a:off x="1855693" y="703636"/>
          <a:ext cx="270705" cy="345050"/>
        </a:xfrm>
        <a:prstGeom prst="mathMinus">
          <a:avLst/>
        </a:prstGeom>
        <a:solidFill>
          <a:schemeClr val="tx1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4000" kern="1200"/>
        </a:p>
      </dsp:txBody>
      <dsp:txXfrm>
        <a:off x="1855693" y="772633"/>
        <a:ext cx="189494" cy="207030"/>
      </dsp:txXfrm>
    </dsp:sp>
    <dsp:sp modelId="{F7B64E8F-AE7E-0E4B-A776-C6FECE773861}">
      <dsp:nvSpPr>
        <dsp:cNvPr id="0" name=""/>
        <dsp:cNvSpPr/>
      </dsp:nvSpPr>
      <dsp:spPr>
        <a:xfrm>
          <a:off x="2145521" y="179640"/>
          <a:ext cx="1722776" cy="1520857"/>
        </a:xfrm>
        <a:prstGeom prst="roundRect">
          <a:avLst>
            <a:gd name="adj" fmla="val 10000"/>
          </a:avLst>
        </a:prstGeom>
        <a:solidFill>
          <a:srgbClr val="0E0062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u="sng" kern="120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rPr>
            <a:t>197,698 ABGs </a:t>
          </a:r>
          <a:endParaRPr lang="en-US" sz="1100" kern="1200" dirty="0">
            <a:solidFill>
              <a:schemeClr val="bg1"/>
            </a:solidFill>
            <a:latin typeface="Calibri" panose="020F0502020204030204" pitchFamily="34" charset="0"/>
            <a:cs typeface="Calibri" panose="020F0502020204030204" pitchFamily="34" charset="0"/>
          </a:endParaRPr>
        </a:p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rPr>
            <a:t>- 55% male</a:t>
          </a:r>
        </a:p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rPr>
            <a:t>- 65% white, 14% Black, 4% </a:t>
          </a:r>
          <a:r>
            <a:rPr lang="en-US" sz="1100" kern="1200" dirty="0" err="1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rPr>
            <a:t>hispanic</a:t>
          </a:r>
          <a:endParaRPr lang="en-US" sz="1100" kern="1200" dirty="0">
            <a:solidFill>
              <a:schemeClr val="bg1"/>
            </a:solidFill>
            <a:latin typeface="Calibri" panose="020F0502020204030204" pitchFamily="34" charset="0"/>
            <a:cs typeface="Calibri" panose="020F0502020204030204" pitchFamily="34" charset="0"/>
          </a:endParaRPr>
        </a:p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rPr>
            <a:t>- Age =  61 ± 17 years</a:t>
          </a:r>
          <a:endParaRPr lang="en-US" sz="1100" kern="1200" dirty="0"/>
        </a:p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rPr>
            <a:t>- 31% Invasive ventilation</a:t>
          </a:r>
          <a:endParaRPr lang="en-US" sz="1100" kern="1200" dirty="0"/>
        </a:p>
      </dsp:txBody>
      <dsp:txXfrm>
        <a:off x="2190065" y="224184"/>
        <a:ext cx="1633688" cy="143176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2480254-5AF7-4D44-B228-0B506ABBDDDA}" type="datetimeFigureOut">
              <a:rPr lang="en-US" smtClean="0"/>
              <a:t>10/13/25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CCBD454-EF88-7F45-865C-CB58B16150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88447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CBD454-EF88-7F45-865C-CB58B1615037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073823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CBD454-EF88-7F45-865C-CB58B1615037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223821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CBD454-EF88-7F45-865C-CB58B1615037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744269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247F05-940D-0251-FA7A-27F5A93F58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2D00CA4-8A3A-B384-38DE-F387EF113EE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3A4E1B1-BED9-3EF1-B8E7-0E0B9D17A95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7BC55D-8C25-191D-87C6-FB8144C5AC4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CBD454-EF88-7F45-865C-CB58B1615037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473040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A69E0D-D9E3-5A26-D3AD-518CCC93CC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C655706-7102-D575-D057-855AEF99171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1F91D6B-75F6-205C-08F2-933FAFB721F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2719DB3-0C0F-C93B-C90A-423EFAD2DB6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CBD454-EF88-7F45-865C-CB58B1615037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51463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01A08C2D-8605-A641-9CF4-8FE0E373A3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1" y="1629578"/>
            <a:ext cx="8496300" cy="1133232"/>
          </a:xfrm>
        </p:spPr>
        <p:txBody>
          <a:bodyPr tIns="0" bIns="0" anchor="t">
            <a:normAutofit/>
          </a:bodyPr>
          <a:lstStyle>
            <a:lvl1pPr algn="ctr">
              <a:lnSpc>
                <a:spcPts val="3096"/>
              </a:lnSpc>
              <a:defRPr sz="2800" b="1" cap="none">
                <a:solidFill>
                  <a:srgbClr val="54585A"/>
                </a:solidFill>
              </a:defRPr>
            </a:lvl1pPr>
          </a:lstStyle>
          <a:p>
            <a:r>
              <a:rPr lang="en-US" dirty="0"/>
              <a:t>Click to edit Master title</a:t>
            </a: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07E426C7-FADC-504A-92CB-1438D033D76A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311781" y="2977891"/>
            <a:ext cx="8489320" cy="1500187"/>
          </a:xfrm>
        </p:spPr>
        <p:txBody>
          <a:bodyPr lIns="0" tIns="0" rIns="0" bIns="0" anchor="t" anchorCtr="0">
            <a:norm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54585A"/>
                </a:solidFill>
              </a:defRPr>
            </a:lvl1pPr>
            <a:lvl2pPr marL="411476" indent="0">
              <a:buNone/>
              <a:defRPr sz="1620">
                <a:solidFill>
                  <a:schemeClr val="tx1">
                    <a:tint val="75000"/>
                  </a:schemeClr>
                </a:solidFill>
              </a:defRPr>
            </a:lvl2pPr>
            <a:lvl3pPr marL="822952" indent="0">
              <a:buNone/>
              <a:defRPr sz="1440">
                <a:solidFill>
                  <a:schemeClr val="tx1">
                    <a:tint val="75000"/>
                  </a:schemeClr>
                </a:solidFill>
              </a:defRPr>
            </a:lvl3pPr>
            <a:lvl4pPr marL="1234428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4pPr>
            <a:lvl5pPr marL="1645904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5pPr>
            <a:lvl6pPr marL="2057380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6pPr>
            <a:lvl7pPr marL="2468856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7pPr>
            <a:lvl8pPr marL="2880331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8pPr>
            <a:lvl9pPr marL="3291807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8E837657-2F26-0E4B-98BA-BF6093A66DD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741129" y="4767263"/>
            <a:ext cx="2057400" cy="273844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316120F3-477D-CA49-8F89-EE7DC96DF2E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8EF03813-80EA-5342-A74D-B85153AC1BA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11781" y="4767263"/>
            <a:ext cx="3086100" cy="273844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Copyright © 2021 American College of Chest Physicians.</a:t>
            </a:r>
          </a:p>
        </p:txBody>
      </p:sp>
    </p:spTree>
    <p:extLst>
      <p:ext uri="{BB962C8B-B14F-4D97-AF65-F5344CB8AC3E}">
        <p14:creationId xmlns:p14="http://schemas.microsoft.com/office/powerpoint/2010/main" val="36700041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Bullet 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82F141E4-8077-7948-A1A9-DC2C0EE4CE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741129" y="4767263"/>
            <a:ext cx="2057400" cy="273844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316120F3-477D-CA49-8F89-EE7DC96DF2E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66141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Custom Title and Image/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1780" y="224479"/>
            <a:ext cx="7886700" cy="60732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3779153-D495-984E-9843-03C5FF9B9928}"/>
              </a:ext>
            </a:extLst>
          </p:cNvPr>
          <p:cNvPicPr>
            <a:picLocks/>
          </p:cNvPicPr>
          <p:nvPr userDrawn="1"/>
        </p:nvPicPr>
        <p:blipFill rotWithShape="1">
          <a:blip r:embed="rId2"/>
          <a:srcRect r="531"/>
          <a:stretch/>
        </p:blipFill>
        <p:spPr>
          <a:xfrm>
            <a:off x="0" y="-1"/>
            <a:ext cx="9144000" cy="104703"/>
          </a:xfrm>
          <a:prstGeom prst="rect">
            <a:avLst/>
          </a:prstGeom>
        </p:spPr>
      </p:pic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CBDC5E82-5A97-794E-BE98-816796D1512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741129" y="4767263"/>
            <a:ext cx="2057400" cy="273844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316120F3-477D-CA49-8F89-EE7DC96DF2E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05577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1_Custom Title and Image/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FD397FA-819A-E047-8270-1E0829D99E1D}"/>
              </a:ext>
            </a:extLst>
          </p:cNvPr>
          <p:cNvSpPr/>
          <p:nvPr userDrawn="1"/>
        </p:nvSpPr>
        <p:spPr>
          <a:xfrm>
            <a:off x="0" y="-888"/>
            <a:ext cx="9144000" cy="514438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1780" y="224479"/>
            <a:ext cx="7886700" cy="607322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3779153-D495-984E-9843-03C5FF9B9928}"/>
              </a:ext>
            </a:extLst>
          </p:cNvPr>
          <p:cNvPicPr>
            <a:picLocks/>
          </p:cNvPicPr>
          <p:nvPr userDrawn="1"/>
        </p:nvPicPr>
        <p:blipFill rotWithShape="1">
          <a:blip r:embed="rId2"/>
          <a:srcRect r="531"/>
          <a:stretch/>
        </p:blipFill>
        <p:spPr>
          <a:xfrm>
            <a:off x="0" y="-1"/>
            <a:ext cx="9144000" cy="104703"/>
          </a:xfrm>
          <a:prstGeom prst="rect">
            <a:avLst/>
          </a:prstGeom>
        </p:spPr>
      </p:pic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CBDC5E82-5A97-794E-BE98-816796D1512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741129" y="4767263"/>
            <a:ext cx="2057400" cy="273844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9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316120F3-477D-CA49-8F89-EE7DC96DF2E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40334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Custom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E0DB2552-993E-1E4D-8B66-849CE003BF37}"/>
              </a:ext>
            </a:extLst>
          </p:cNvPr>
          <p:cNvPicPr>
            <a:picLocks/>
          </p:cNvPicPr>
          <p:nvPr userDrawn="1"/>
        </p:nvPicPr>
        <p:blipFill rotWithShape="1">
          <a:blip r:embed="rId2"/>
          <a:srcRect r="531"/>
          <a:stretch/>
        </p:blipFill>
        <p:spPr>
          <a:xfrm>
            <a:off x="0" y="-1"/>
            <a:ext cx="9144000" cy="104703"/>
          </a:xfrm>
          <a:prstGeom prst="rect">
            <a:avLst/>
          </a:prstGeom>
        </p:spPr>
      </p:pic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BC4A6EDE-3FA0-A74F-8F55-37644C15E2A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741129" y="4767263"/>
            <a:ext cx="2057400" cy="273844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316120F3-477D-CA49-8F89-EE7DC96DF2E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778407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1_Custom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D5F9A44C-786F-C94F-B35F-3F2987CC7371}"/>
              </a:ext>
            </a:extLst>
          </p:cNvPr>
          <p:cNvSpPr/>
          <p:nvPr userDrawn="1"/>
        </p:nvSpPr>
        <p:spPr>
          <a:xfrm>
            <a:off x="0" y="-888"/>
            <a:ext cx="9144000" cy="514438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0DB2552-993E-1E4D-8B66-849CE003BF37}"/>
              </a:ext>
            </a:extLst>
          </p:cNvPr>
          <p:cNvPicPr>
            <a:picLocks/>
          </p:cNvPicPr>
          <p:nvPr userDrawn="1"/>
        </p:nvPicPr>
        <p:blipFill rotWithShape="1">
          <a:blip r:embed="rId2"/>
          <a:srcRect r="531"/>
          <a:stretch/>
        </p:blipFill>
        <p:spPr>
          <a:xfrm>
            <a:off x="0" y="-1"/>
            <a:ext cx="9144000" cy="104703"/>
          </a:xfrm>
          <a:prstGeom prst="rect">
            <a:avLst/>
          </a:prstGeom>
        </p:spPr>
      </p:pic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BC4A6EDE-3FA0-A74F-8F55-37644C15E2A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741129" y="4767263"/>
            <a:ext cx="2057400" cy="273844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9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316120F3-477D-CA49-8F89-EE7DC96DF2E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435916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Custom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D5F9A44C-786F-C94F-B35F-3F2987CC7371}"/>
              </a:ext>
            </a:extLst>
          </p:cNvPr>
          <p:cNvSpPr/>
          <p:nvPr userDrawn="1"/>
        </p:nvSpPr>
        <p:spPr>
          <a:xfrm>
            <a:off x="0" y="-888"/>
            <a:ext cx="9144000" cy="514438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0DB2552-993E-1E4D-8B66-849CE003BF37}"/>
              </a:ext>
            </a:extLst>
          </p:cNvPr>
          <p:cNvPicPr>
            <a:picLocks/>
          </p:cNvPicPr>
          <p:nvPr userDrawn="1"/>
        </p:nvPicPr>
        <p:blipFill rotWithShape="1">
          <a:blip r:embed="rId2"/>
          <a:srcRect r="531"/>
          <a:stretch/>
        </p:blipFill>
        <p:spPr>
          <a:xfrm>
            <a:off x="0" y="-1"/>
            <a:ext cx="9144000" cy="104703"/>
          </a:xfrm>
          <a:prstGeom prst="rect">
            <a:avLst/>
          </a:prstGeom>
        </p:spPr>
      </p:pic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BC4A6EDE-3FA0-A74F-8F55-37644C15E2A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741129" y="4767263"/>
            <a:ext cx="2057400" cy="273844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9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316120F3-477D-CA49-8F89-EE7DC96DF2E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EE5BCE04-FCFE-4340-9260-9F7B200A50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0897" y="405031"/>
            <a:ext cx="8487632" cy="607322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0BFF7BA1-D39F-DD4E-8701-6013F50DEB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1780" y="1116739"/>
            <a:ext cx="8486749" cy="2742873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9565455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2.emf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10896" y="1078992"/>
            <a:ext cx="8487632" cy="607322"/>
          </a:xfrm>
          <a:prstGeom prst="rect">
            <a:avLst/>
          </a:prstGeom>
        </p:spPr>
        <p:txBody>
          <a:bodyPr vert="horz" lIns="0" tIns="45720" rIns="0" bIns="45720" rtlCol="0" anchor="t" anchorCtr="0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11779" y="1790700"/>
            <a:ext cx="8486749" cy="2742873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741129" y="4767263"/>
            <a:ext cx="2057400" cy="273844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316120F3-477D-CA49-8F89-EE7DC96DF2E7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E206153-AF43-3F43-86BE-B3737D5A2A13}"/>
              </a:ext>
            </a:extLst>
          </p:cNvPr>
          <p:cNvPicPr>
            <a:picLocks/>
          </p:cNvPicPr>
          <p:nvPr userDrawn="1"/>
        </p:nvPicPr>
        <p:blipFill rotWithShape="1">
          <a:blip r:embed="rId9"/>
          <a:srcRect r="531"/>
          <a:stretch/>
        </p:blipFill>
        <p:spPr>
          <a:xfrm>
            <a:off x="0" y="799900"/>
            <a:ext cx="9144000" cy="7315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7ABF9B6A-F49A-8744-964F-DB2BEEEE3C1A}"/>
              </a:ext>
            </a:extLst>
          </p:cNvPr>
          <p:cNvPicPr>
            <a:picLocks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310896" y="242468"/>
            <a:ext cx="1782981" cy="3025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07691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7" r:id="rId1"/>
    <p:sldLayoutId id="2147483658" r:id="rId2"/>
    <p:sldLayoutId id="2147483662" r:id="rId3"/>
    <p:sldLayoutId id="2147483664" r:id="rId4"/>
    <p:sldLayoutId id="2147483663" r:id="rId5"/>
    <p:sldLayoutId id="2147483665" r:id="rId6"/>
    <p:sldLayoutId id="2147483666" r:id="rId7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2400" b="1" kern="1200">
          <a:solidFill>
            <a:srgbClr val="54585A"/>
          </a:solidFill>
          <a:latin typeface="Verdana" panose="020B0604030504040204" pitchFamily="34" charset="0"/>
          <a:ea typeface="Verdana" panose="020B0604030504040204" pitchFamily="34" charset="0"/>
          <a:cs typeface="Verdana" panose="020B0604030504040204" pitchFamily="34" charset="0"/>
        </a:defRPr>
      </a:lvl1pPr>
    </p:titleStyle>
    <p:bodyStyle>
      <a:lvl1pPr marL="234950" indent="-234950" algn="l" defTabSz="685800" rtl="0" eaLnBrk="1" latinLnBrk="0" hangingPunct="1">
        <a:lnSpc>
          <a:spcPct val="100000"/>
        </a:lnSpc>
        <a:spcBef>
          <a:spcPts val="600"/>
        </a:spcBef>
        <a:buClr>
          <a:srgbClr val="4698CB"/>
        </a:buClr>
        <a:buFont typeface="Wingdings" pitchFamily="2" charset="2"/>
        <a:buChar char="§"/>
        <a:tabLst/>
        <a:defRPr sz="1800" kern="1200" baseline="0">
          <a:solidFill>
            <a:srgbClr val="54585A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457200" indent="-222250" algn="l" defTabSz="685800" rtl="0" eaLnBrk="1" latinLnBrk="0" hangingPunct="1">
        <a:lnSpc>
          <a:spcPct val="100000"/>
        </a:lnSpc>
        <a:spcBef>
          <a:spcPts val="600"/>
        </a:spcBef>
        <a:buClr>
          <a:srgbClr val="4698CB"/>
        </a:buClr>
        <a:buFont typeface="System Font Regular"/>
        <a:buChar char="-"/>
        <a:tabLst/>
        <a:defRPr sz="1800" kern="1200" baseline="0">
          <a:solidFill>
            <a:srgbClr val="54585A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804863" indent="-288925" algn="l" defTabSz="685800" rtl="0" eaLnBrk="1" latinLnBrk="0" hangingPunct="1">
        <a:lnSpc>
          <a:spcPct val="100000"/>
        </a:lnSpc>
        <a:spcBef>
          <a:spcPts val="600"/>
        </a:spcBef>
        <a:buClr>
          <a:srgbClr val="4698CB"/>
        </a:buClr>
        <a:buSzPct val="90000"/>
        <a:buFont typeface="Lucida Grande" panose="020B0600040502020204" pitchFamily="34" charset="0"/>
        <a:buChar char="✓"/>
        <a:tabLst/>
        <a:defRPr sz="1800" kern="1200" baseline="0">
          <a:solidFill>
            <a:srgbClr val="54585A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2400" kern="1200">
          <a:solidFill>
            <a:srgbClr val="54585A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2400" kern="1200">
          <a:solidFill>
            <a:srgbClr val="54585A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684" userDrawn="1">
          <p15:clr>
            <a:srgbClr val="F26B43"/>
          </p15:clr>
        </p15:guide>
        <p15:guide id="2" pos="192" userDrawn="1">
          <p15:clr>
            <a:srgbClr val="F26B43"/>
          </p15:clr>
        </p15:guide>
        <p15:guide id="3" orient="horz" pos="1212" userDrawn="1">
          <p15:clr>
            <a:srgbClr val="F26B43"/>
          </p15:clr>
        </p15:guide>
        <p15:guide id="4" pos="5544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tags" Target="../tags/tag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6.xml"/><Relationship Id="rId5" Type="http://schemas.openxmlformats.org/officeDocument/2006/relationships/image" Target="../media/image5.png"/><Relationship Id="rId4" Type="http://schemas.openxmlformats.org/officeDocument/2006/relationships/image" Target="../media/image4.emf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tags" Target="../tags/tag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8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10.xml"/><Relationship Id="rId4" Type="http://schemas.openxmlformats.org/officeDocument/2006/relationships/image" Target="../media/image6.emf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11.xml"/><Relationship Id="rId4" Type="http://schemas.openxmlformats.org/officeDocument/2006/relationships/image" Target="../media/image6.emf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tags" Target="../tags/tag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5E0C8A-2746-494F-8C1B-CF6E8E274C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944" y="1076447"/>
            <a:ext cx="8496300" cy="1133232"/>
          </a:xfrm>
        </p:spPr>
        <p:txBody>
          <a:bodyPr>
            <a:normAutofit fontScale="90000"/>
          </a:bodyPr>
          <a:lstStyle/>
          <a:p>
            <a:r>
              <a:rPr lang="en-US" dirty="0"/>
              <a:t>Session 482 - Strategies to Improve Care for Advanced Chronic Respiratory Diseases</a:t>
            </a:r>
            <a:br>
              <a:rPr lang="en-US" dirty="0"/>
            </a:br>
            <a:br>
              <a:rPr lang="en-US" dirty="0"/>
            </a:br>
            <a:br>
              <a:rPr lang="en-US" dirty="0"/>
            </a:br>
            <a:r>
              <a:rPr lang="en-US" b="0" dirty="0"/>
              <a:t>SIMULATION SUGGESTS TRANSCUTANEOUS CO2 SENSORS MAY ACCURATELY DETECT HYPERCAPNIA ACROSS SETTINGS</a:t>
            </a:r>
            <a:endParaRPr 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6828669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5E0C8A-2746-494F-8C1B-CF6E8E274C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37143" y="2239980"/>
            <a:ext cx="4935741" cy="663540"/>
          </a:xfrm>
        </p:spPr>
        <p:txBody>
          <a:bodyPr>
            <a:noAutofit/>
          </a:bodyPr>
          <a:lstStyle/>
          <a:p>
            <a:pPr algn="l"/>
            <a:r>
              <a:rPr lang="en-US" sz="2400" dirty="0"/>
              <a:t>Dustin Anderson-Bell</a:t>
            </a:r>
            <a:r>
              <a:rPr lang="en-US" sz="2400" b="1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, MD</a:t>
            </a:r>
            <a:br>
              <a:rPr lang="en-US" sz="2400" b="1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</a:br>
            <a:br>
              <a:rPr lang="en-US" sz="2400" dirty="0">
                <a:effectLst/>
                <a:latin typeface="Times" panose="02020603050405020304" pitchFamily="18" charset="0"/>
                <a:ea typeface="Times" panose="02020603050405020304" pitchFamily="18" charset="0"/>
              </a:rPr>
            </a:br>
            <a:endParaRPr lang="en-US" sz="240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F73F641-5E4F-F147-B4A5-287C6AD80E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837143" y="2571750"/>
            <a:ext cx="5296183" cy="961832"/>
          </a:xfrm>
        </p:spPr>
        <p:txBody>
          <a:bodyPr>
            <a:normAutofit/>
          </a:bodyPr>
          <a:lstStyle/>
          <a:p>
            <a:pPr marL="0" marR="0" algn="l">
              <a:spcBef>
                <a:spcPts val="0"/>
              </a:spcBef>
              <a:spcAft>
                <a:spcPts val="0"/>
              </a:spcAft>
            </a:pPr>
            <a:r>
              <a:rPr lang="en-US" sz="1050" dirty="0">
                <a:effectLst/>
                <a:ea typeface="Verdana" panose="020B0604030504040204" pitchFamily="34" charset="0"/>
              </a:rPr>
              <a:t>Fellow of Pulmonary and Critical Care Medicine</a:t>
            </a:r>
          </a:p>
          <a:p>
            <a:pPr marL="0" marR="0" algn="l">
              <a:spcBef>
                <a:spcPts val="0"/>
              </a:spcBef>
              <a:spcAft>
                <a:spcPts val="0"/>
              </a:spcAft>
            </a:pPr>
            <a:r>
              <a:rPr lang="en-US" sz="1050" dirty="0">
                <a:effectLst/>
                <a:ea typeface="Verdana" panose="020B0604030504040204" pitchFamily="34" charset="0"/>
              </a:rPr>
              <a:t>University of Utah</a:t>
            </a:r>
          </a:p>
          <a:p>
            <a:pPr marL="0" marR="0" algn="l">
              <a:spcBef>
                <a:spcPts val="0"/>
              </a:spcBef>
              <a:spcAft>
                <a:spcPts val="0"/>
              </a:spcAft>
            </a:pPr>
            <a:r>
              <a:rPr lang="en-US" sz="1050" dirty="0">
                <a:effectLst/>
                <a:ea typeface="Verdana" panose="020B0604030504040204" pitchFamily="34" charset="0"/>
              </a:rPr>
              <a:t>Intermountain Medical Center</a:t>
            </a:r>
          </a:p>
          <a:p>
            <a:pPr marL="0" marR="0" algn="l">
              <a:spcBef>
                <a:spcPts val="0"/>
              </a:spcBef>
              <a:spcAft>
                <a:spcPts val="0"/>
              </a:spcAft>
            </a:pPr>
            <a:r>
              <a:rPr lang="en-US" sz="1050" dirty="0">
                <a:ea typeface="Verdana" panose="020B0604030504040204" pitchFamily="34" charset="0"/>
              </a:rPr>
              <a:t>Carl T. Hayden Veterans’ Administration Medical Center</a:t>
            </a:r>
            <a:endParaRPr lang="en-US" sz="1050" dirty="0">
              <a:effectLst/>
              <a:ea typeface="Verdana" panose="020B0604030504040204" pitchFamily="34" charset="0"/>
            </a:endParaRPr>
          </a:p>
          <a:p>
            <a:pPr marL="0" marR="0" algn="l">
              <a:spcBef>
                <a:spcPts val="0"/>
              </a:spcBef>
              <a:spcAft>
                <a:spcPts val="0"/>
              </a:spcAft>
            </a:pPr>
            <a:r>
              <a:rPr lang="en-US" sz="1050" dirty="0">
                <a:effectLst/>
                <a:ea typeface="Verdana" panose="020B0604030504040204" pitchFamily="34" charset="0"/>
              </a:rPr>
              <a:t>Salt Lake City, Utah</a:t>
            </a:r>
          </a:p>
          <a:p>
            <a:pPr algn="l"/>
            <a:r>
              <a:rPr lang="en-US" sz="1050" b="1" dirty="0"/>
              <a:t>Disclosure</a:t>
            </a:r>
            <a:r>
              <a:rPr lang="en-US" sz="1050" dirty="0"/>
              <a:t>: None.</a:t>
            </a:r>
          </a:p>
          <a:p>
            <a:pPr algn="l"/>
            <a:endParaRPr lang="en-US" sz="900" dirty="0"/>
          </a:p>
          <a:p>
            <a:pPr algn="l"/>
            <a:endParaRPr lang="en-US" sz="900" dirty="0"/>
          </a:p>
          <a:p>
            <a:pPr algn="l"/>
            <a:endParaRPr lang="en-US" sz="900" dirty="0"/>
          </a:p>
        </p:txBody>
      </p:sp>
      <p:pic>
        <p:nvPicPr>
          <p:cNvPr id="7" name="Picture 6" descr="A person in a white coat&#10;&#10;Description automatically generated">
            <a:extLst>
              <a:ext uri="{FF2B5EF4-FFF2-40B4-BE49-F238E27FC236}">
                <a16:creationId xmlns:a16="http://schemas.microsoft.com/office/drawing/2014/main" id="{E8D1C91F-1221-8E54-CD88-0301BE3AF3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799" y="1517649"/>
            <a:ext cx="2319867" cy="2793908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6273873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020DB0-47DA-D9F6-81D7-EA9B20902A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Financial Disclosure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C5357B-3263-EE8E-008A-FB49631DE1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This research was supported by the National Institutes of Health under Ruth L. Kirschstein National Research Service Award 5T32HL105321 from the NIH. </a:t>
            </a:r>
          </a:p>
        </p:txBody>
      </p:sp>
    </p:spTree>
    <p:extLst>
      <p:ext uri="{BB962C8B-B14F-4D97-AF65-F5344CB8AC3E}">
        <p14:creationId xmlns:p14="http://schemas.microsoft.com/office/powerpoint/2010/main" val="30594901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7FD783-64FB-884D-AB04-9CBA5A2639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Lesson 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8BBDB4-D6F6-8445-9FFE-3D3364BFFF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Why arterial sampling for detection of hypercapnia is problematic</a:t>
            </a:r>
          </a:p>
          <a:p>
            <a:r>
              <a:rPr lang="en-US" dirty="0"/>
              <a:t>Possible role of Transcutaneous CO2 (TcCO2) monitoring</a:t>
            </a:r>
          </a:p>
          <a:p>
            <a:r>
              <a:rPr lang="en-US" dirty="0"/>
              <a:t>Current study: Accuracy of TcCO2 in detection of hypercapnia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6043428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C247BE-B605-2F4B-ADC1-5DE2D41137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Background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712D3D64-7A7A-435A-9889-8A426FEAA10D}"/>
              </a:ext>
            </a:extLst>
          </p:cNvPr>
          <p:cNvSpPr txBox="1">
            <a:spLocks/>
          </p:cNvSpPr>
          <p:nvPr/>
        </p:nvSpPr>
        <p:spPr>
          <a:xfrm>
            <a:off x="286327" y="710357"/>
            <a:ext cx="8486749" cy="3768774"/>
          </a:xfrm>
          <a:prstGeom prst="rect">
            <a:avLst/>
          </a:prstGeom>
        </p:spPr>
        <p:txBody>
          <a:bodyPr/>
          <a:lstStyle>
            <a:lvl1pPr marL="234950" indent="-234950" algn="l" defTabSz="6858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rgbClr val="4698CB"/>
              </a:buClr>
              <a:buFont typeface="Wingdings" pitchFamily="2" charset="2"/>
              <a:buChar char="§"/>
              <a:tabLst/>
              <a:defRPr sz="1800" kern="1200" baseline="0">
                <a:solidFill>
                  <a:srgbClr val="54585A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indent="-222250" algn="l" defTabSz="6858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rgbClr val="4698CB"/>
              </a:buClr>
              <a:buFont typeface="System Font Regular"/>
              <a:buChar char="-"/>
              <a:tabLst/>
              <a:defRPr sz="1800" kern="1200" baseline="0">
                <a:solidFill>
                  <a:srgbClr val="54585A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804863" indent="-288925" algn="l" defTabSz="6858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rgbClr val="4698CB"/>
              </a:buClr>
              <a:buSzPct val="90000"/>
              <a:buFont typeface="Lucida Grande" panose="020B0600040502020204" pitchFamily="34" charset="0"/>
              <a:buChar char="✓"/>
              <a:tabLst/>
              <a:defRPr sz="1800" kern="1200" baseline="0">
                <a:solidFill>
                  <a:srgbClr val="54585A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2400" kern="1200">
                <a:solidFill>
                  <a:srgbClr val="54585A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2400" kern="1200">
                <a:solidFill>
                  <a:srgbClr val="54585A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u="sng" dirty="0"/>
              <a:t>Problem:</a:t>
            </a:r>
            <a:r>
              <a:rPr lang="en-US" dirty="0"/>
              <a:t> </a:t>
            </a:r>
          </a:p>
          <a:p>
            <a:pPr lvl="1"/>
            <a:r>
              <a:rPr lang="en-US" dirty="0"/>
              <a:t>Hypercapnia is widespread (~15% of CAP admissions</a:t>
            </a:r>
            <a:r>
              <a:rPr lang="en-US" baseline="30000" dirty="0"/>
              <a:t>1</a:t>
            </a:r>
            <a:r>
              <a:rPr lang="en-US" dirty="0"/>
              <a:t>, 43% of ARDS</a:t>
            </a:r>
            <a:r>
              <a:rPr lang="en-US" baseline="30000" dirty="0"/>
              <a:t>2</a:t>
            </a:r>
            <a:r>
              <a:rPr lang="en-US" dirty="0"/>
              <a:t>) and consequential (Hospital mortality of 53% for ICU patients treated with NIV for acute hypercapnia</a:t>
            </a:r>
            <a:r>
              <a:rPr lang="en-US" baseline="30000" dirty="0"/>
              <a:t>3</a:t>
            </a:r>
            <a:r>
              <a:rPr lang="en-US" dirty="0"/>
              <a:t>).</a:t>
            </a:r>
          </a:p>
          <a:p>
            <a:pPr lvl="1"/>
            <a:r>
              <a:rPr lang="en-US" dirty="0"/>
              <a:t>Diagnostic gold standard = Arterial sampling – painful with possible complications; may limit sampling</a:t>
            </a:r>
            <a:r>
              <a:rPr lang="en-US" baseline="30000" dirty="0"/>
              <a:t>4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Accurate detection of elevated arterial CO₂ (PaCO₂) is essential for studying hypercapnic respiratory failure.</a:t>
            </a:r>
            <a:endParaRPr lang="en-US" b="1" u="sng" dirty="0"/>
          </a:p>
          <a:p>
            <a:r>
              <a:rPr lang="en-US" b="1" u="sng" dirty="0"/>
              <a:t>Gap: </a:t>
            </a:r>
          </a:p>
          <a:p>
            <a:pPr lvl="1"/>
            <a:r>
              <a:rPr lang="en-US" dirty="0"/>
              <a:t>Requiring ABG sampling may deter research participation. TcCO2 may offer an adequate alternative. The operating characteristics of TcCO₂ sensors are uncertain.</a:t>
            </a:r>
          </a:p>
          <a:p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438BB74-05EA-C8FB-B354-3B3A1F2026FB}"/>
              </a:ext>
            </a:extLst>
          </p:cNvPr>
          <p:cNvSpPr txBox="1"/>
          <p:nvPr/>
        </p:nvSpPr>
        <p:spPr>
          <a:xfrm>
            <a:off x="0" y="4404836"/>
            <a:ext cx="1274708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dirty="0"/>
              <a:t>1 - PMID: 22677348</a:t>
            </a:r>
          </a:p>
          <a:p>
            <a:r>
              <a:rPr lang="en-US" sz="1050" dirty="0"/>
              <a:t>2 - PMID: 32589951</a:t>
            </a:r>
          </a:p>
          <a:p>
            <a:r>
              <a:rPr lang="en-US" sz="1050" dirty="0"/>
              <a:t>3 - PMID: 22586805</a:t>
            </a:r>
          </a:p>
          <a:p>
            <a:r>
              <a:rPr lang="en-US" sz="1050" dirty="0"/>
              <a:t>4 - PMID: 26628461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7507682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578E72-363B-6D4B-1198-68B13AE6D8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8F959C-017F-221C-3874-5C224076ED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TcCO2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3A3404FD-C75F-7E4E-A722-9B2240DF5C4D}"/>
              </a:ext>
            </a:extLst>
          </p:cNvPr>
          <p:cNvSpPr txBox="1">
            <a:spLocks/>
          </p:cNvSpPr>
          <p:nvPr/>
        </p:nvSpPr>
        <p:spPr>
          <a:xfrm>
            <a:off x="77729" y="1021213"/>
            <a:ext cx="8486749" cy="2742873"/>
          </a:xfrm>
          <a:prstGeom prst="rect">
            <a:avLst/>
          </a:prstGeom>
        </p:spPr>
        <p:txBody>
          <a:bodyPr/>
          <a:lstStyle>
            <a:lvl1pPr marL="234950" indent="-234950" algn="l" defTabSz="6858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rgbClr val="4698CB"/>
              </a:buClr>
              <a:buFont typeface="Wingdings" pitchFamily="2" charset="2"/>
              <a:buChar char="§"/>
              <a:tabLst/>
              <a:defRPr sz="1800" kern="1200" baseline="0">
                <a:solidFill>
                  <a:srgbClr val="54585A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indent="-222250" algn="l" defTabSz="6858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rgbClr val="4698CB"/>
              </a:buClr>
              <a:buFont typeface="System Font Regular"/>
              <a:buChar char="-"/>
              <a:tabLst/>
              <a:defRPr sz="1800" kern="1200" baseline="0">
                <a:solidFill>
                  <a:srgbClr val="54585A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804863" indent="-288925" algn="l" defTabSz="6858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rgbClr val="4698CB"/>
              </a:buClr>
              <a:buSzPct val="90000"/>
              <a:buFont typeface="Lucida Grande" panose="020B0600040502020204" pitchFamily="34" charset="0"/>
              <a:buChar char="✓"/>
              <a:tabLst/>
              <a:defRPr sz="1800" kern="1200" baseline="0">
                <a:solidFill>
                  <a:srgbClr val="54585A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2400" kern="1200">
                <a:solidFill>
                  <a:srgbClr val="54585A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2400" kern="1200">
                <a:solidFill>
                  <a:srgbClr val="54585A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Prior analysis: </a:t>
            </a:r>
          </a:p>
          <a:p>
            <a:pPr lvl="1"/>
            <a:r>
              <a:rPr lang="en-US" dirty="0"/>
              <a:t>Application of published TcCO2-PaCO2 agreement estimates (Conway et al., 2019) to a national sample </a:t>
            </a:r>
            <a:r>
              <a:rPr lang="en-US" u="sng" dirty="0"/>
              <a:t>of hospitalized patients </a:t>
            </a:r>
            <a:r>
              <a:rPr lang="en-US" dirty="0"/>
              <a:t>who underwent PaCO2 sampling (</a:t>
            </a:r>
            <a:r>
              <a:rPr lang="en-US" dirty="0" err="1"/>
              <a:t>TriNetX</a:t>
            </a:r>
            <a:r>
              <a:rPr lang="en-US" dirty="0"/>
              <a:t> database) to obtain simulated test characteristics of TcCO2 for the detection of hypercapnia.</a:t>
            </a:r>
          </a:p>
          <a:p>
            <a:pPr lvl="1"/>
            <a:r>
              <a:rPr lang="en-US" dirty="0"/>
              <a:t>Results: Good agreement between modalities</a:t>
            </a:r>
          </a:p>
          <a:p>
            <a:pPr lvl="1"/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2EEEE8B-82C6-E02F-BDE8-9FAFBF1A0CA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87484" y="3134674"/>
            <a:ext cx="3187597" cy="1591274"/>
          </a:xfrm>
          <a:prstGeom prst="rect">
            <a:avLst/>
          </a:prstGeom>
          <a:ln>
            <a:noFill/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5DF453B-CB5A-7802-084C-CA395D6B5F9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0191" y="3214837"/>
            <a:ext cx="3695647" cy="1472666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0B66A09-5635-2285-EC63-984F93AFC814}"/>
              </a:ext>
            </a:extLst>
          </p:cNvPr>
          <p:cNvSpPr txBox="1"/>
          <p:nvPr/>
        </p:nvSpPr>
        <p:spPr>
          <a:xfrm>
            <a:off x="116378" y="4763193"/>
            <a:ext cx="667512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/>
              <a:t>Anderson-Bell DM, Brown J, </a:t>
            </a:r>
            <a:r>
              <a:rPr lang="en-US" sz="800" dirty="0" err="1"/>
              <a:t>Gouripeddi</a:t>
            </a:r>
            <a:r>
              <a:rPr lang="en-US" sz="800" dirty="0"/>
              <a:t> R, Locke BW. </a:t>
            </a:r>
            <a:r>
              <a:rPr lang="en-US" sz="800" i="1" dirty="0"/>
              <a:t>Is an arterial blood gas necessary to detect hypercapnia? An in-silico simulation of transcutaneous CO₂ to identify hypercapnia.</a:t>
            </a:r>
            <a:r>
              <a:rPr lang="en-US" sz="800" dirty="0"/>
              <a:t> Presented at: American Thoracic Society International Conference; May 2025; San Francisco, CA.</a:t>
            </a:r>
            <a:endParaRPr lang="en-US" sz="400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4703492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623935-7A5D-7947-92B0-2C6886A696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F145D8-D89B-FDCD-018B-CE0E371AC0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Aim of current analysis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B651371F-FC04-BDCB-2235-DC0ABA9CDDD1}"/>
              </a:ext>
            </a:extLst>
          </p:cNvPr>
          <p:cNvSpPr txBox="1">
            <a:spLocks/>
          </p:cNvSpPr>
          <p:nvPr/>
        </p:nvSpPr>
        <p:spPr>
          <a:xfrm>
            <a:off x="172026" y="1567607"/>
            <a:ext cx="8486749" cy="1179879"/>
          </a:xfrm>
          <a:prstGeom prst="rect">
            <a:avLst/>
          </a:prstGeom>
        </p:spPr>
        <p:txBody>
          <a:bodyPr/>
          <a:lstStyle>
            <a:lvl1pPr marL="234950" indent="-234950" algn="l" defTabSz="6858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rgbClr val="4698CB"/>
              </a:buClr>
              <a:buFont typeface="Wingdings" pitchFamily="2" charset="2"/>
              <a:buChar char="§"/>
              <a:tabLst/>
              <a:defRPr sz="1800" kern="1200" baseline="0">
                <a:solidFill>
                  <a:srgbClr val="54585A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indent="-222250" algn="l" defTabSz="6858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rgbClr val="4698CB"/>
              </a:buClr>
              <a:buFont typeface="System Font Regular"/>
              <a:buChar char="-"/>
              <a:tabLst/>
              <a:defRPr sz="1800" kern="1200" baseline="0">
                <a:solidFill>
                  <a:srgbClr val="54585A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804863" indent="-288925" algn="l" defTabSz="6858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rgbClr val="4698CB"/>
              </a:buClr>
              <a:buSzPct val="90000"/>
              <a:buFont typeface="Lucida Grande" panose="020B0600040502020204" pitchFamily="34" charset="0"/>
              <a:buChar char="✓"/>
              <a:tabLst/>
              <a:defRPr sz="1800" kern="1200" baseline="0">
                <a:solidFill>
                  <a:srgbClr val="54585A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2400" kern="1200">
                <a:solidFill>
                  <a:srgbClr val="54585A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2400" kern="1200">
                <a:solidFill>
                  <a:srgbClr val="54585A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Determine accuracy of TcCO2 in characterization for patients in different settings (Ambulatory, inpatient/Emergency Department, ICU)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5876343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D383DD-8683-931A-C809-57CE2ACEEB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5631DC67-D6FD-1B6B-87E2-7C9AD5AF2ABC}"/>
              </a:ext>
            </a:extLst>
          </p:cNvPr>
          <p:cNvSpPr/>
          <p:nvPr/>
        </p:nvSpPr>
        <p:spPr>
          <a:xfrm>
            <a:off x="5769033" y="842356"/>
            <a:ext cx="3291840" cy="3890357"/>
          </a:xfrm>
          <a:prstGeom prst="roundRect">
            <a:avLst/>
          </a:prstGeom>
          <a:solidFill>
            <a:srgbClr val="FF0000">
              <a:alpha val="38824"/>
            </a:srgbClr>
          </a:solidFill>
          <a:ln>
            <a:solidFill>
              <a:srgbClr val="172C51">
                <a:alpha val="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632AE0FB-47BF-B7FB-65C4-5939C84D383C}"/>
              </a:ext>
            </a:extLst>
          </p:cNvPr>
          <p:cNvSpPr/>
          <p:nvPr/>
        </p:nvSpPr>
        <p:spPr>
          <a:xfrm>
            <a:off x="4314305" y="867294"/>
            <a:ext cx="1113906" cy="3890357"/>
          </a:xfrm>
          <a:prstGeom prst="roundRect">
            <a:avLst/>
          </a:prstGeom>
          <a:solidFill>
            <a:srgbClr val="00B050">
              <a:alpha val="38824"/>
            </a:srgbClr>
          </a:solidFill>
          <a:ln>
            <a:solidFill>
              <a:srgbClr val="172C51">
                <a:alpha val="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610A149D-A8C5-8008-A626-9F63150A8342}"/>
              </a:ext>
            </a:extLst>
          </p:cNvPr>
          <p:cNvSpPr/>
          <p:nvPr/>
        </p:nvSpPr>
        <p:spPr>
          <a:xfrm>
            <a:off x="66502" y="872836"/>
            <a:ext cx="3857105" cy="3890357"/>
          </a:xfrm>
          <a:prstGeom prst="roundRect">
            <a:avLst/>
          </a:prstGeom>
          <a:solidFill>
            <a:srgbClr val="4472C4">
              <a:alpha val="38824"/>
            </a:srgbClr>
          </a:solidFill>
          <a:ln>
            <a:solidFill>
              <a:srgbClr val="172C51">
                <a:alpha val="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99B5986-C6DB-1E85-CBB5-EC8956D552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Methods</a:t>
            </a:r>
          </a:p>
        </p:txBody>
      </p:sp>
      <p:graphicFrame>
        <p:nvGraphicFramePr>
          <p:cNvPr id="8" name="Diagram 7">
            <a:extLst>
              <a:ext uri="{FF2B5EF4-FFF2-40B4-BE49-F238E27FC236}">
                <a16:creationId xmlns:a16="http://schemas.microsoft.com/office/drawing/2014/main" id="{BFE2C3C7-55A2-7713-4719-83559854C1B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157571391"/>
              </p:ext>
            </p:extLst>
          </p:nvPr>
        </p:nvGraphicFramePr>
        <p:xfrm>
          <a:off x="55659" y="1739073"/>
          <a:ext cx="4529836" cy="187876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grpSp>
        <p:nvGrpSpPr>
          <p:cNvPr id="9" name="Group 8">
            <a:extLst>
              <a:ext uri="{FF2B5EF4-FFF2-40B4-BE49-F238E27FC236}">
                <a16:creationId xmlns:a16="http://schemas.microsoft.com/office/drawing/2014/main" id="{3F8DB369-27FE-F278-7610-99228DB5B4CE}"/>
              </a:ext>
            </a:extLst>
          </p:cNvPr>
          <p:cNvGrpSpPr/>
          <p:nvPr/>
        </p:nvGrpSpPr>
        <p:grpSpPr>
          <a:xfrm>
            <a:off x="4329794" y="1335820"/>
            <a:ext cx="1092997" cy="755374"/>
            <a:chOff x="8758" y="0"/>
            <a:chExt cx="1682253" cy="1952199"/>
          </a:xfrm>
        </p:grpSpPr>
        <p:sp>
          <p:nvSpPr>
            <p:cNvPr id="10" name="Rounded Rectangle 9">
              <a:extLst>
                <a:ext uri="{FF2B5EF4-FFF2-40B4-BE49-F238E27FC236}">
                  <a16:creationId xmlns:a16="http://schemas.microsoft.com/office/drawing/2014/main" id="{9DA6A23C-AF0E-E804-306F-95FF8EB7F230}"/>
                </a:ext>
              </a:extLst>
            </p:cNvPr>
            <p:cNvSpPr/>
            <p:nvPr/>
          </p:nvSpPr>
          <p:spPr>
            <a:xfrm>
              <a:off x="8758" y="0"/>
              <a:ext cx="1682253" cy="1952199"/>
            </a:xfrm>
            <a:prstGeom prst="roundRect">
              <a:avLst>
                <a:gd name="adj" fmla="val 10000"/>
              </a:avLst>
            </a:prstGeom>
            <a:solidFill>
              <a:srgbClr val="0E0062"/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1" name="Rounded Rectangle 4">
              <a:extLst>
                <a:ext uri="{FF2B5EF4-FFF2-40B4-BE49-F238E27FC236}">
                  <a16:creationId xmlns:a16="http://schemas.microsoft.com/office/drawing/2014/main" id="{9C5045D1-7459-1DA7-57D5-525FB63075C8}"/>
                </a:ext>
              </a:extLst>
            </p:cNvPr>
            <p:cNvSpPr txBox="1"/>
            <p:nvPr/>
          </p:nvSpPr>
          <p:spPr>
            <a:xfrm>
              <a:off x="58030" y="49272"/>
              <a:ext cx="1583709" cy="1853655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53340" tIns="53340" rIns="53340" bIns="53340" numCol="1" spcCol="1270" anchor="ctr" anchorCtr="0">
              <a:noAutofit/>
            </a:bodyPr>
            <a:lstStyle/>
            <a:p>
              <a:pPr marL="0" lvl="0" indent="0" algn="ctr" defTabSz="6223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1200" b="1" u="sng" kern="1200" dirty="0"/>
                <a:t>Inpatient + ED</a:t>
              </a:r>
            </a:p>
            <a:p>
              <a:pPr lvl="0" algn="ctr" defTabSz="6223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1200" dirty="0"/>
                <a:t>(n=91, 503)</a:t>
              </a:r>
              <a:endParaRPr lang="en-US" sz="1200" kern="1200" dirty="0"/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F7170B98-1BA4-C8C8-3126-D4514FCA8B35}"/>
              </a:ext>
            </a:extLst>
          </p:cNvPr>
          <p:cNvGrpSpPr/>
          <p:nvPr/>
        </p:nvGrpSpPr>
        <p:grpSpPr>
          <a:xfrm>
            <a:off x="4326463" y="2286494"/>
            <a:ext cx="1096330" cy="599831"/>
            <a:chOff x="8758" y="0"/>
            <a:chExt cx="1682253" cy="1952199"/>
          </a:xfrm>
        </p:grpSpPr>
        <p:sp>
          <p:nvSpPr>
            <p:cNvPr id="19" name="Rounded Rectangle 18">
              <a:extLst>
                <a:ext uri="{FF2B5EF4-FFF2-40B4-BE49-F238E27FC236}">
                  <a16:creationId xmlns:a16="http://schemas.microsoft.com/office/drawing/2014/main" id="{1F7835A6-67DF-C1BB-7F6A-A019F2512ADB}"/>
                </a:ext>
              </a:extLst>
            </p:cNvPr>
            <p:cNvSpPr/>
            <p:nvPr/>
          </p:nvSpPr>
          <p:spPr>
            <a:xfrm>
              <a:off x="8758" y="0"/>
              <a:ext cx="1682253" cy="1952199"/>
            </a:xfrm>
            <a:prstGeom prst="roundRect">
              <a:avLst>
                <a:gd name="adj" fmla="val 10000"/>
              </a:avLst>
            </a:prstGeom>
            <a:solidFill>
              <a:srgbClr val="0E0062"/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0" name="Rounded Rectangle 4">
              <a:extLst>
                <a:ext uri="{FF2B5EF4-FFF2-40B4-BE49-F238E27FC236}">
                  <a16:creationId xmlns:a16="http://schemas.microsoft.com/office/drawing/2014/main" id="{7AD77758-ADF1-5170-44F4-BAB04277CFC5}"/>
                </a:ext>
              </a:extLst>
            </p:cNvPr>
            <p:cNvSpPr txBox="1"/>
            <p:nvPr/>
          </p:nvSpPr>
          <p:spPr>
            <a:xfrm>
              <a:off x="58031" y="49273"/>
              <a:ext cx="1583709" cy="1853655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53340" tIns="53340" rIns="53340" bIns="53340" numCol="1" spcCol="1270" anchor="ctr" anchorCtr="0">
              <a:noAutofit/>
            </a:bodyPr>
            <a:lstStyle/>
            <a:p>
              <a:pPr marL="0" lvl="0" indent="0" algn="ctr" defTabSz="6223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1200" b="1" u="sng" kern="1200" dirty="0"/>
                <a:t>ICU</a:t>
              </a:r>
            </a:p>
            <a:p>
              <a:pPr algn="ctr" defTabSz="6223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1200" dirty="0"/>
                <a:t>(n=66,704)</a:t>
              </a:r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25641016-C43E-AFCE-BEE7-0E15CD8CCD23}"/>
              </a:ext>
            </a:extLst>
          </p:cNvPr>
          <p:cNvGrpSpPr/>
          <p:nvPr/>
        </p:nvGrpSpPr>
        <p:grpSpPr>
          <a:xfrm>
            <a:off x="4333646" y="3271369"/>
            <a:ext cx="1112997" cy="815602"/>
            <a:chOff x="8758" y="0"/>
            <a:chExt cx="1682253" cy="1952199"/>
          </a:xfrm>
        </p:grpSpPr>
        <p:sp>
          <p:nvSpPr>
            <p:cNvPr id="22" name="Rounded Rectangle 21">
              <a:extLst>
                <a:ext uri="{FF2B5EF4-FFF2-40B4-BE49-F238E27FC236}">
                  <a16:creationId xmlns:a16="http://schemas.microsoft.com/office/drawing/2014/main" id="{98EDE0CD-B8B7-0B3B-65AA-720DFAA0EDCF}"/>
                </a:ext>
              </a:extLst>
            </p:cNvPr>
            <p:cNvSpPr/>
            <p:nvPr/>
          </p:nvSpPr>
          <p:spPr>
            <a:xfrm>
              <a:off x="8758" y="0"/>
              <a:ext cx="1682253" cy="1952199"/>
            </a:xfrm>
            <a:prstGeom prst="roundRect">
              <a:avLst>
                <a:gd name="adj" fmla="val 10000"/>
              </a:avLst>
            </a:prstGeom>
            <a:solidFill>
              <a:srgbClr val="0E0062"/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3" name="Rounded Rectangle 4">
              <a:extLst>
                <a:ext uri="{FF2B5EF4-FFF2-40B4-BE49-F238E27FC236}">
                  <a16:creationId xmlns:a16="http://schemas.microsoft.com/office/drawing/2014/main" id="{505DAA73-F788-EC0F-A4F7-98E00145EC34}"/>
                </a:ext>
              </a:extLst>
            </p:cNvPr>
            <p:cNvSpPr txBox="1"/>
            <p:nvPr/>
          </p:nvSpPr>
          <p:spPr>
            <a:xfrm>
              <a:off x="58030" y="49272"/>
              <a:ext cx="1583709" cy="1853655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53340" tIns="53340" rIns="53340" bIns="53340" numCol="1" spcCol="1270" anchor="ctr" anchorCtr="0">
              <a:noAutofit/>
            </a:bodyPr>
            <a:lstStyle/>
            <a:p>
              <a:pPr marL="0" lvl="0" indent="0" algn="ctr" defTabSz="6223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1200" b="1" u="sng" kern="1200" dirty="0"/>
                <a:t>Ambulatory </a:t>
              </a:r>
            </a:p>
            <a:p>
              <a:pPr marL="0" lvl="0" indent="0" algn="ctr" defTabSz="6223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1200" kern="1200" dirty="0"/>
                <a:t>(PFT Lab)</a:t>
              </a:r>
            </a:p>
            <a:p>
              <a:pPr algn="ctr" defTabSz="6223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1200" dirty="0"/>
                <a:t>(n=10,456)</a:t>
              </a:r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392D6929-7455-F926-5147-81622FA5829F}"/>
              </a:ext>
            </a:extLst>
          </p:cNvPr>
          <p:cNvGrpSpPr/>
          <p:nvPr/>
        </p:nvGrpSpPr>
        <p:grpSpPr>
          <a:xfrm rot="19950491">
            <a:off x="3901180" y="1712545"/>
            <a:ext cx="433633" cy="294823"/>
            <a:chOff x="2978200" y="523887"/>
            <a:chExt cx="252026" cy="294823"/>
          </a:xfrm>
          <a:solidFill>
            <a:schemeClr val="tx1"/>
          </a:solidFill>
        </p:grpSpPr>
        <p:sp>
          <p:nvSpPr>
            <p:cNvPr id="25" name="Right Arrow 24">
              <a:extLst>
                <a:ext uri="{FF2B5EF4-FFF2-40B4-BE49-F238E27FC236}">
                  <a16:creationId xmlns:a16="http://schemas.microsoft.com/office/drawing/2014/main" id="{D99CA9A7-CC82-524D-FD94-B383D49AC4DC}"/>
                </a:ext>
              </a:extLst>
            </p:cNvPr>
            <p:cNvSpPr/>
            <p:nvPr/>
          </p:nvSpPr>
          <p:spPr>
            <a:xfrm>
              <a:off x="2978200" y="523887"/>
              <a:ext cx="252026" cy="294823"/>
            </a:xfrm>
            <a:prstGeom prst="rightArrow">
              <a:avLst>
                <a:gd name="adj1" fmla="val 60000"/>
                <a:gd name="adj2" fmla="val 50000"/>
              </a:avLst>
            </a:prstGeom>
            <a:grpFill/>
          </p:spPr>
          <p:style>
            <a:ln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tint val="6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6" name="Right Arrow 4">
              <a:extLst>
                <a:ext uri="{FF2B5EF4-FFF2-40B4-BE49-F238E27FC236}">
                  <a16:creationId xmlns:a16="http://schemas.microsoft.com/office/drawing/2014/main" id="{3872E094-79D9-D3AE-DFCA-8C5E6705D90E}"/>
                </a:ext>
              </a:extLst>
            </p:cNvPr>
            <p:cNvSpPr txBox="1"/>
            <p:nvPr/>
          </p:nvSpPr>
          <p:spPr>
            <a:xfrm>
              <a:off x="2978200" y="582852"/>
              <a:ext cx="176418" cy="176893"/>
            </a:xfrm>
            <a:prstGeom prst="rect">
              <a:avLst/>
            </a:prstGeom>
            <a:grpFill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0" tIns="0" rIns="0" bIns="0" numCol="1" spcCol="1270" anchor="ctr" anchorCtr="0">
              <a:noAutofit/>
            </a:bodyPr>
            <a:lstStyle/>
            <a:p>
              <a:pPr marL="0" lvl="0" indent="0" algn="ctr" defTabSz="17780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en-US" sz="4000" kern="1200"/>
            </a:p>
          </p:txBody>
        </p:sp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D1CF9FD3-76F4-42BA-B20C-C8D2036715EC}"/>
              </a:ext>
            </a:extLst>
          </p:cNvPr>
          <p:cNvGrpSpPr/>
          <p:nvPr/>
        </p:nvGrpSpPr>
        <p:grpSpPr>
          <a:xfrm>
            <a:off x="5779397" y="2190876"/>
            <a:ext cx="1431636" cy="822669"/>
            <a:chOff x="8758" y="0"/>
            <a:chExt cx="1682253" cy="1952199"/>
          </a:xfrm>
        </p:grpSpPr>
        <p:sp>
          <p:nvSpPr>
            <p:cNvPr id="34" name="Rounded Rectangle 33">
              <a:extLst>
                <a:ext uri="{FF2B5EF4-FFF2-40B4-BE49-F238E27FC236}">
                  <a16:creationId xmlns:a16="http://schemas.microsoft.com/office/drawing/2014/main" id="{099DA57B-78B7-E872-F6AE-57C0002FF0B0}"/>
                </a:ext>
              </a:extLst>
            </p:cNvPr>
            <p:cNvSpPr/>
            <p:nvPr/>
          </p:nvSpPr>
          <p:spPr>
            <a:xfrm>
              <a:off x="8758" y="0"/>
              <a:ext cx="1682253" cy="1952199"/>
            </a:xfrm>
            <a:prstGeom prst="roundRect">
              <a:avLst>
                <a:gd name="adj" fmla="val 10000"/>
              </a:avLst>
            </a:prstGeom>
            <a:solidFill>
              <a:srgbClr val="0E0062"/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35" name="Rounded Rectangle 4">
              <a:extLst>
                <a:ext uri="{FF2B5EF4-FFF2-40B4-BE49-F238E27FC236}">
                  <a16:creationId xmlns:a16="http://schemas.microsoft.com/office/drawing/2014/main" id="{47278B58-7EAB-2B89-B42D-73C8E0B9A695}"/>
                </a:ext>
              </a:extLst>
            </p:cNvPr>
            <p:cNvSpPr txBox="1"/>
            <p:nvPr/>
          </p:nvSpPr>
          <p:spPr>
            <a:xfrm>
              <a:off x="58030" y="49272"/>
              <a:ext cx="1583709" cy="1853655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53340" tIns="53340" rIns="53340" bIns="53340" numCol="1" spcCol="1270" anchor="ctr" anchorCtr="0">
              <a:noAutofit/>
            </a:bodyPr>
            <a:lstStyle/>
            <a:p>
              <a:pPr lvl="0" algn="ctr" defTabSz="6223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1200" dirty="0"/>
                <a:t>Simulated location-specific TcCO2 </a:t>
              </a:r>
              <a:r>
                <a:rPr lang="en-US" sz="1200" kern="1200" dirty="0"/>
                <a:t>(using </a:t>
              </a:r>
              <a:r>
                <a:rPr lang="en-US" sz="1200" dirty="0"/>
                <a:t>Conway et al. 2019 PaCO2-TcCO2)</a:t>
              </a:r>
              <a:endParaRPr lang="en-US" sz="1200" kern="1200" dirty="0"/>
            </a:p>
          </p:txBody>
        </p:sp>
      </p:grpSp>
      <p:grpSp>
        <p:nvGrpSpPr>
          <p:cNvPr id="49" name="Group 48">
            <a:extLst>
              <a:ext uri="{FF2B5EF4-FFF2-40B4-BE49-F238E27FC236}">
                <a16:creationId xmlns:a16="http://schemas.microsoft.com/office/drawing/2014/main" id="{7E1B0F9D-F583-132D-2A5D-CA6216494E25}"/>
              </a:ext>
            </a:extLst>
          </p:cNvPr>
          <p:cNvGrpSpPr/>
          <p:nvPr/>
        </p:nvGrpSpPr>
        <p:grpSpPr>
          <a:xfrm>
            <a:off x="3950662" y="2437870"/>
            <a:ext cx="343044" cy="294823"/>
            <a:chOff x="2978200" y="523887"/>
            <a:chExt cx="252026" cy="294823"/>
          </a:xfrm>
          <a:solidFill>
            <a:schemeClr val="tx1"/>
          </a:solidFill>
        </p:grpSpPr>
        <p:sp>
          <p:nvSpPr>
            <p:cNvPr id="50" name="Right Arrow 49">
              <a:extLst>
                <a:ext uri="{FF2B5EF4-FFF2-40B4-BE49-F238E27FC236}">
                  <a16:creationId xmlns:a16="http://schemas.microsoft.com/office/drawing/2014/main" id="{499BEC10-7AB1-9FD8-D81A-336468871CD0}"/>
                </a:ext>
              </a:extLst>
            </p:cNvPr>
            <p:cNvSpPr/>
            <p:nvPr/>
          </p:nvSpPr>
          <p:spPr>
            <a:xfrm>
              <a:off x="2978200" y="523887"/>
              <a:ext cx="252026" cy="294823"/>
            </a:xfrm>
            <a:prstGeom prst="rightArrow">
              <a:avLst>
                <a:gd name="adj1" fmla="val 60000"/>
                <a:gd name="adj2" fmla="val 50000"/>
              </a:avLst>
            </a:prstGeom>
            <a:grpFill/>
          </p:spPr>
          <p:style>
            <a:ln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tint val="6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51" name="Right Arrow 4">
              <a:extLst>
                <a:ext uri="{FF2B5EF4-FFF2-40B4-BE49-F238E27FC236}">
                  <a16:creationId xmlns:a16="http://schemas.microsoft.com/office/drawing/2014/main" id="{78173438-F1CB-AE4D-0007-A04C87D3E437}"/>
                </a:ext>
              </a:extLst>
            </p:cNvPr>
            <p:cNvSpPr txBox="1"/>
            <p:nvPr/>
          </p:nvSpPr>
          <p:spPr>
            <a:xfrm>
              <a:off x="2978200" y="582852"/>
              <a:ext cx="176418" cy="176893"/>
            </a:xfrm>
            <a:prstGeom prst="rect">
              <a:avLst/>
            </a:prstGeom>
            <a:grpFill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0" tIns="0" rIns="0" bIns="0" numCol="1" spcCol="1270" anchor="ctr" anchorCtr="0">
              <a:noAutofit/>
            </a:bodyPr>
            <a:lstStyle/>
            <a:p>
              <a:pPr marL="0" lvl="0" indent="0" algn="ctr" defTabSz="17780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en-US" sz="4000" kern="1200"/>
            </a:p>
          </p:txBody>
        </p:sp>
      </p:grpSp>
      <p:grpSp>
        <p:nvGrpSpPr>
          <p:cNvPr id="61" name="Group 60">
            <a:extLst>
              <a:ext uri="{FF2B5EF4-FFF2-40B4-BE49-F238E27FC236}">
                <a16:creationId xmlns:a16="http://schemas.microsoft.com/office/drawing/2014/main" id="{5355B7FA-3F5D-5F3F-6FFB-7382F12677DF}"/>
              </a:ext>
            </a:extLst>
          </p:cNvPr>
          <p:cNvGrpSpPr/>
          <p:nvPr/>
        </p:nvGrpSpPr>
        <p:grpSpPr>
          <a:xfrm rot="1807701">
            <a:off x="3920786" y="3328152"/>
            <a:ext cx="430596" cy="294823"/>
            <a:chOff x="2978200" y="523887"/>
            <a:chExt cx="252026" cy="294823"/>
          </a:xfrm>
          <a:solidFill>
            <a:schemeClr val="tx1"/>
          </a:solidFill>
        </p:grpSpPr>
        <p:sp>
          <p:nvSpPr>
            <p:cNvPr id="62" name="Right Arrow 61">
              <a:extLst>
                <a:ext uri="{FF2B5EF4-FFF2-40B4-BE49-F238E27FC236}">
                  <a16:creationId xmlns:a16="http://schemas.microsoft.com/office/drawing/2014/main" id="{72E0880D-26C8-0AE7-47A6-4419B8263C57}"/>
                </a:ext>
              </a:extLst>
            </p:cNvPr>
            <p:cNvSpPr/>
            <p:nvPr/>
          </p:nvSpPr>
          <p:spPr>
            <a:xfrm>
              <a:off x="2978200" y="523887"/>
              <a:ext cx="252026" cy="294823"/>
            </a:xfrm>
            <a:prstGeom prst="rightArrow">
              <a:avLst>
                <a:gd name="adj1" fmla="val 60000"/>
                <a:gd name="adj2" fmla="val 50000"/>
              </a:avLst>
            </a:prstGeom>
            <a:grpFill/>
          </p:spPr>
          <p:style>
            <a:ln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tint val="6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63" name="Right Arrow 4">
              <a:extLst>
                <a:ext uri="{FF2B5EF4-FFF2-40B4-BE49-F238E27FC236}">
                  <a16:creationId xmlns:a16="http://schemas.microsoft.com/office/drawing/2014/main" id="{BC8C88CA-619C-E11F-409A-D4CDAA10E836}"/>
                </a:ext>
              </a:extLst>
            </p:cNvPr>
            <p:cNvSpPr txBox="1"/>
            <p:nvPr/>
          </p:nvSpPr>
          <p:spPr>
            <a:xfrm>
              <a:off x="2978200" y="582852"/>
              <a:ext cx="176418" cy="176893"/>
            </a:xfrm>
            <a:prstGeom prst="rect">
              <a:avLst/>
            </a:prstGeom>
            <a:grpFill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0" tIns="0" rIns="0" bIns="0" numCol="1" spcCol="1270" anchor="ctr" anchorCtr="0">
              <a:noAutofit/>
            </a:bodyPr>
            <a:lstStyle/>
            <a:p>
              <a:pPr marL="0" lvl="0" indent="0" algn="ctr" defTabSz="17780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en-US" sz="4000" kern="1200"/>
            </a:p>
          </p:txBody>
        </p:sp>
      </p:grpSp>
      <p:grpSp>
        <p:nvGrpSpPr>
          <p:cNvPr id="76" name="Group 75">
            <a:extLst>
              <a:ext uri="{FF2B5EF4-FFF2-40B4-BE49-F238E27FC236}">
                <a16:creationId xmlns:a16="http://schemas.microsoft.com/office/drawing/2014/main" id="{977F14C7-0DBF-0495-66E3-4FF30041633D}"/>
              </a:ext>
            </a:extLst>
          </p:cNvPr>
          <p:cNvGrpSpPr/>
          <p:nvPr/>
        </p:nvGrpSpPr>
        <p:grpSpPr>
          <a:xfrm rot="1807701">
            <a:off x="5448761" y="1683557"/>
            <a:ext cx="430596" cy="294823"/>
            <a:chOff x="2978200" y="523887"/>
            <a:chExt cx="252026" cy="294823"/>
          </a:xfrm>
          <a:solidFill>
            <a:schemeClr val="tx1"/>
          </a:solidFill>
        </p:grpSpPr>
        <p:sp>
          <p:nvSpPr>
            <p:cNvPr id="77" name="Right Arrow 76">
              <a:extLst>
                <a:ext uri="{FF2B5EF4-FFF2-40B4-BE49-F238E27FC236}">
                  <a16:creationId xmlns:a16="http://schemas.microsoft.com/office/drawing/2014/main" id="{4F944D50-25F9-1DF4-5746-27C2DCE09392}"/>
                </a:ext>
              </a:extLst>
            </p:cNvPr>
            <p:cNvSpPr/>
            <p:nvPr/>
          </p:nvSpPr>
          <p:spPr>
            <a:xfrm>
              <a:off x="2978200" y="523887"/>
              <a:ext cx="252026" cy="294823"/>
            </a:xfrm>
            <a:prstGeom prst="rightArrow">
              <a:avLst>
                <a:gd name="adj1" fmla="val 60000"/>
                <a:gd name="adj2" fmla="val 50000"/>
              </a:avLst>
            </a:prstGeom>
            <a:grpFill/>
          </p:spPr>
          <p:style>
            <a:ln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tint val="6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78" name="Right Arrow 4">
              <a:extLst>
                <a:ext uri="{FF2B5EF4-FFF2-40B4-BE49-F238E27FC236}">
                  <a16:creationId xmlns:a16="http://schemas.microsoft.com/office/drawing/2014/main" id="{61D07FC8-2CE5-FA50-1305-E98FE71C1CE6}"/>
                </a:ext>
              </a:extLst>
            </p:cNvPr>
            <p:cNvSpPr txBox="1"/>
            <p:nvPr/>
          </p:nvSpPr>
          <p:spPr>
            <a:xfrm>
              <a:off x="2978200" y="582852"/>
              <a:ext cx="176418" cy="176893"/>
            </a:xfrm>
            <a:prstGeom prst="rect">
              <a:avLst/>
            </a:prstGeom>
            <a:grpFill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0" tIns="0" rIns="0" bIns="0" numCol="1" spcCol="1270" anchor="ctr" anchorCtr="0">
              <a:noAutofit/>
            </a:bodyPr>
            <a:lstStyle/>
            <a:p>
              <a:pPr marL="0" lvl="0" indent="0" algn="ctr" defTabSz="17780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en-US" sz="4000" kern="1200"/>
            </a:p>
          </p:txBody>
        </p:sp>
      </p:grpSp>
      <p:grpSp>
        <p:nvGrpSpPr>
          <p:cNvPr id="79" name="Group 78">
            <a:extLst>
              <a:ext uri="{FF2B5EF4-FFF2-40B4-BE49-F238E27FC236}">
                <a16:creationId xmlns:a16="http://schemas.microsoft.com/office/drawing/2014/main" id="{7AFC375F-F5E7-8FBC-F2A0-2EF786E0F7FE}"/>
              </a:ext>
            </a:extLst>
          </p:cNvPr>
          <p:cNvGrpSpPr/>
          <p:nvPr/>
        </p:nvGrpSpPr>
        <p:grpSpPr>
          <a:xfrm rot="19950491">
            <a:off x="5468912" y="3320034"/>
            <a:ext cx="433633" cy="294823"/>
            <a:chOff x="2978200" y="523887"/>
            <a:chExt cx="252026" cy="294823"/>
          </a:xfrm>
          <a:solidFill>
            <a:schemeClr val="tx1"/>
          </a:solidFill>
        </p:grpSpPr>
        <p:sp>
          <p:nvSpPr>
            <p:cNvPr id="80" name="Right Arrow 79">
              <a:extLst>
                <a:ext uri="{FF2B5EF4-FFF2-40B4-BE49-F238E27FC236}">
                  <a16:creationId xmlns:a16="http://schemas.microsoft.com/office/drawing/2014/main" id="{F6DFCB99-9946-E463-AA3D-381552045E7B}"/>
                </a:ext>
              </a:extLst>
            </p:cNvPr>
            <p:cNvSpPr/>
            <p:nvPr/>
          </p:nvSpPr>
          <p:spPr>
            <a:xfrm>
              <a:off x="2978200" y="523887"/>
              <a:ext cx="252026" cy="294823"/>
            </a:xfrm>
            <a:prstGeom prst="rightArrow">
              <a:avLst>
                <a:gd name="adj1" fmla="val 60000"/>
                <a:gd name="adj2" fmla="val 50000"/>
              </a:avLst>
            </a:prstGeom>
            <a:grpFill/>
          </p:spPr>
          <p:style>
            <a:ln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tint val="6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81" name="Right Arrow 4">
              <a:extLst>
                <a:ext uri="{FF2B5EF4-FFF2-40B4-BE49-F238E27FC236}">
                  <a16:creationId xmlns:a16="http://schemas.microsoft.com/office/drawing/2014/main" id="{A4F128C2-C5A0-79DC-1173-E20D9E686F25}"/>
                </a:ext>
              </a:extLst>
            </p:cNvPr>
            <p:cNvSpPr txBox="1"/>
            <p:nvPr/>
          </p:nvSpPr>
          <p:spPr>
            <a:xfrm>
              <a:off x="2978200" y="582852"/>
              <a:ext cx="176418" cy="176893"/>
            </a:xfrm>
            <a:prstGeom prst="rect">
              <a:avLst/>
            </a:prstGeom>
            <a:grpFill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0" tIns="0" rIns="0" bIns="0" numCol="1" spcCol="1270" anchor="ctr" anchorCtr="0">
              <a:noAutofit/>
            </a:bodyPr>
            <a:lstStyle/>
            <a:p>
              <a:pPr marL="0" lvl="0" indent="0" algn="ctr" defTabSz="17780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en-US" sz="4000" kern="1200"/>
            </a:p>
          </p:txBody>
        </p:sp>
      </p:grpSp>
      <p:grpSp>
        <p:nvGrpSpPr>
          <p:cNvPr id="82" name="Group 81">
            <a:extLst>
              <a:ext uri="{FF2B5EF4-FFF2-40B4-BE49-F238E27FC236}">
                <a16:creationId xmlns:a16="http://schemas.microsoft.com/office/drawing/2014/main" id="{4E8D3F26-DF3E-0EAA-9A81-74489A43E9BE}"/>
              </a:ext>
            </a:extLst>
          </p:cNvPr>
          <p:cNvGrpSpPr/>
          <p:nvPr/>
        </p:nvGrpSpPr>
        <p:grpSpPr>
          <a:xfrm>
            <a:off x="5422979" y="2415341"/>
            <a:ext cx="343044" cy="294823"/>
            <a:chOff x="2978200" y="523887"/>
            <a:chExt cx="252026" cy="294823"/>
          </a:xfrm>
          <a:solidFill>
            <a:schemeClr val="tx1"/>
          </a:solidFill>
        </p:grpSpPr>
        <p:sp>
          <p:nvSpPr>
            <p:cNvPr id="83" name="Right Arrow 82">
              <a:extLst>
                <a:ext uri="{FF2B5EF4-FFF2-40B4-BE49-F238E27FC236}">
                  <a16:creationId xmlns:a16="http://schemas.microsoft.com/office/drawing/2014/main" id="{F4F73E0F-5BBD-B619-3220-E59CAB22A575}"/>
                </a:ext>
              </a:extLst>
            </p:cNvPr>
            <p:cNvSpPr/>
            <p:nvPr/>
          </p:nvSpPr>
          <p:spPr>
            <a:xfrm>
              <a:off x="2978200" y="523887"/>
              <a:ext cx="252026" cy="294823"/>
            </a:xfrm>
            <a:prstGeom prst="rightArrow">
              <a:avLst>
                <a:gd name="adj1" fmla="val 60000"/>
                <a:gd name="adj2" fmla="val 50000"/>
              </a:avLst>
            </a:prstGeom>
            <a:grpFill/>
          </p:spPr>
          <p:style>
            <a:ln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tint val="6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84" name="Right Arrow 4">
              <a:extLst>
                <a:ext uri="{FF2B5EF4-FFF2-40B4-BE49-F238E27FC236}">
                  <a16:creationId xmlns:a16="http://schemas.microsoft.com/office/drawing/2014/main" id="{43EA8894-AC77-62D9-9D06-136D532B00A9}"/>
                </a:ext>
              </a:extLst>
            </p:cNvPr>
            <p:cNvSpPr txBox="1"/>
            <p:nvPr/>
          </p:nvSpPr>
          <p:spPr>
            <a:xfrm>
              <a:off x="2978200" y="582852"/>
              <a:ext cx="176418" cy="176893"/>
            </a:xfrm>
            <a:prstGeom prst="rect">
              <a:avLst/>
            </a:prstGeom>
            <a:grpFill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0" tIns="0" rIns="0" bIns="0" numCol="1" spcCol="1270" anchor="ctr" anchorCtr="0">
              <a:noAutofit/>
            </a:bodyPr>
            <a:lstStyle/>
            <a:p>
              <a:pPr marL="0" lvl="0" indent="0" algn="ctr" defTabSz="17780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en-US" sz="4000" kern="1200"/>
            </a:p>
          </p:txBody>
        </p:sp>
      </p:grpSp>
      <p:grpSp>
        <p:nvGrpSpPr>
          <p:cNvPr id="85" name="Group 84">
            <a:extLst>
              <a:ext uri="{FF2B5EF4-FFF2-40B4-BE49-F238E27FC236}">
                <a16:creationId xmlns:a16="http://schemas.microsoft.com/office/drawing/2014/main" id="{91E2A15B-E9F5-4B2E-88C5-4884A47E5FC5}"/>
              </a:ext>
            </a:extLst>
          </p:cNvPr>
          <p:cNvGrpSpPr/>
          <p:nvPr/>
        </p:nvGrpSpPr>
        <p:grpSpPr>
          <a:xfrm>
            <a:off x="7617112" y="1884267"/>
            <a:ext cx="1431636" cy="1582140"/>
            <a:chOff x="8758" y="0"/>
            <a:chExt cx="1682253" cy="1952199"/>
          </a:xfrm>
        </p:grpSpPr>
        <p:sp>
          <p:nvSpPr>
            <p:cNvPr id="86" name="Rounded Rectangle 85">
              <a:extLst>
                <a:ext uri="{FF2B5EF4-FFF2-40B4-BE49-F238E27FC236}">
                  <a16:creationId xmlns:a16="http://schemas.microsoft.com/office/drawing/2014/main" id="{F7DA6CF0-B0A2-4C22-7E0A-FEFC60B43678}"/>
                </a:ext>
              </a:extLst>
            </p:cNvPr>
            <p:cNvSpPr/>
            <p:nvPr/>
          </p:nvSpPr>
          <p:spPr>
            <a:xfrm>
              <a:off x="8758" y="0"/>
              <a:ext cx="1682253" cy="1952199"/>
            </a:xfrm>
            <a:prstGeom prst="roundRect">
              <a:avLst>
                <a:gd name="adj" fmla="val 10000"/>
              </a:avLst>
            </a:prstGeom>
            <a:solidFill>
              <a:srgbClr val="0E0062"/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87" name="Rounded Rectangle 4">
              <a:extLst>
                <a:ext uri="{FF2B5EF4-FFF2-40B4-BE49-F238E27FC236}">
                  <a16:creationId xmlns:a16="http://schemas.microsoft.com/office/drawing/2014/main" id="{3D6FCC4D-6C08-C88E-61F6-4BEAEA6C88A1}"/>
                </a:ext>
              </a:extLst>
            </p:cNvPr>
            <p:cNvSpPr txBox="1"/>
            <p:nvPr/>
          </p:nvSpPr>
          <p:spPr>
            <a:xfrm>
              <a:off x="58030" y="49273"/>
              <a:ext cx="1583709" cy="1853655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53340" tIns="53340" rIns="53340" bIns="53340" numCol="1" spcCol="1270" anchor="ctr" anchorCtr="0">
              <a:noAutofit/>
            </a:bodyPr>
            <a:lstStyle/>
            <a:p>
              <a:pPr lvl="0" algn="ctr" defTabSz="6223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1200" dirty="0"/>
                <a:t>Accuracy of hypercarbia characterization by TcCO2 in each location</a:t>
              </a:r>
            </a:p>
            <a:p>
              <a:pPr lvl="0" algn="ctr" defTabSz="6223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1100" kern="1200" dirty="0"/>
                <a:t>(</a:t>
              </a:r>
              <a:r>
                <a:rPr lang="en-US" sz="1100" kern="1200" dirty="0" err="1"/>
                <a:t>ie</a:t>
              </a:r>
              <a:r>
                <a:rPr lang="en-US" sz="1100" kern="1200" dirty="0"/>
                <a:t> PaCO2 And TcCO2 agree on presence of absence of hypercarbia)</a:t>
              </a:r>
            </a:p>
          </p:txBody>
        </p:sp>
      </p:grpSp>
      <p:grpSp>
        <p:nvGrpSpPr>
          <p:cNvPr id="88" name="Group 87">
            <a:extLst>
              <a:ext uri="{FF2B5EF4-FFF2-40B4-BE49-F238E27FC236}">
                <a16:creationId xmlns:a16="http://schemas.microsoft.com/office/drawing/2014/main" id="{83C4D6C7-9BC4-72D5-C4EC-3CC0949241E0}"/>
              </a:ext>
            </a:extLst>
          </p:cNvPr>
          <p:cNvGrpSpPr/>
          <p:nvPr/>
        </p:nvGrpSpPr>
        <p:grpSpPr>
          <a:xfrm>
            <a:off x="7229250" y="2408715"/>
            <a:ext cx="343044" cy="294823"/>
            <a:chOff x="2978200" y="523887"/>
            <a:chExt cx="252026" cy="294823"/>
          </a:xfrm>
          <a:solidFill>
            <a:schemeClr val="tx1"/>
          </a:solidFill>
        </p:grpSpPr>
        <p:sp>
          <p:nvSpPr>
            <p:cNvPr id="89" name="Right Arrow 88">
              <a:extLst>
                <a:ext uri="{FF2B5EF4-FFF2-40B4-BE49-F238E27FC236}">
                  <a16:creationId xmlns:a16="http://schemas.microsoft.com/office/drawing/2014/main" id="{83484B0B-4997-DC44-62B2-CA1045901450}"/>
                </a:ext>
              </a:extLst>
            </p:cNvPr>
            <p:cNvSpPr/>
            <p:nvPr/>
          </p:nvSpPr>
          <p:spPr>
            <a:xfrm>
              <a:off x="2978200" y="523887"/>
              <a:ext cx="252026" cy="294823"/>
            </a:xfrm>
            <a:prstGeom prst="rightArrow">
              <a:avLst>
                <a:gd name="adj1" fmla="val 60000"/>
                <a:gd name="adj2" fmla="val 50000"/>
              </a:avLst>
            </a:prstGeom>
            <a:grpFill/>
          </p:spPr>
          <p:style>
            <a:ln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tint val="6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90" name="Right Arrow 4">
              <a:extLst>
                <a:ext uri="{FF2B5EF4-FFF2-40B4-BE49-F238E27FC236}">
                  <a16:creationId xmlns:a16="http://schemas.microsoft.com/office/drawing/2014/main" id="{F92CA020-34B0-E028-CBE8-B2AF72AA726E}"/>
                </a:ext>
              </a:extLst>
            </p:cNvPr>
            <p:cNvSpPr txBox="1"/>
            <p:nvPr/>
          </p:nvSpPr>
          <p:spPr>
            <a:xfrm>
              <a:off x="2978200" y="582852"/>
              <a:ext cx="176418" cy="176893"/>
            </a:xfrm>
            <a:prstGeom prst="rect">
              <a:avLst/>
            </a:prstGeom>
            <a:grpFill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0" tIns="0" rIns="0" bIns="0" numCol="1" spcCol="1270" anchor="ctr" anchorCtr="0">
              <a:noAutofit/>
            </a:bodyPr>
            <a:lstStyle/>
            <a:p>
              <a:pPr marL="0" lvl="0" indent="0" algn="ctr" defTabSz="17780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en-US" sz="4000" kern="1200"/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BF9B84C4-7FDB-95B3-CA75-8418DFC8D3B8}"/>
              </a:ext>
            </a:extLst>
          </p:cNvPr>
          <p:cNvSpPr txBox="1"/>
          <p:nvPr/>
        </p:nvSpPr>
        <p:spPr>
          <a:xfrm>
            <a:off x="872837" y="631768"/>
            <a:ext cx="2116670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Step 1: Collect </a:t>
            </a:r>
            <a:r>
              <a:rPr lang="en-US" dirty="0" err="1"/>
              <a:t>TriNetX</a:t>
            </a:r>
            <a:r>
              <a:rPr lang="en-US" dirty="0"/>
              <a:t> Data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22D6A92-ED6E-F0B5-2472-A56150AE27EF}"/>
              </a:ext>
            </a:extLst>
          </p:cNvPr>
          <p:cNvSpPr txBox="1"/>
          <p:nvPr/>
        </p:nvSpPr>
        <p:spPr>
          <a:xfrm>
            <a:off x="3327862" y="634539"/>
            <a:ext cx="3059556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Step 2: Split by Location of ABG sampling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B0AA9F4-2A5F-2F3D-E6F5-EB30EC8155B2}"/>
              </a:ext>
            </a:extLst>
          </p:cNvPr>
          <p:cNvSpPr txBox="1"/>
          <p:nvPr/>
        </p:nvSpPr>
        <p:spPr>
          <a:xfrm>
            <a:off x="6550429" y="623455"/>
            <a:ext cx="1462003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Step 3: Simulation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CECD2BC-C4D3-050B-A7D1-F37EB45A996E}"/>
              </a:ext>
            </a:extLst>
          </p:cNvPr>
          <p:cNvSpPr txBox="1"/>
          <p:nvPr/>
        </p:nvSpPr>
        <p:spPr>
          <a:xfrm>
            <a:off x="1172095" y="4281054"/>
            <a:ext cx="281551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highlight>
                  <a:srgbClr val="FFFF00"/>
                </a:highlight>
              </a:rPr>
              <a:t>QR Code Here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3522133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36169E-4A8E-FFFD-FF58-35F3A280D4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91CE37-A9CA-63A3-0D40-96DA3B50E2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Results</a:t>
            </a:r>
          </a:p>
        </p:txBody>
      </p:sp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72588B66-A24B-5E1C-C690-CE67CEB529C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42697113"/>
              </p:ext>
            </p:extLst>
          </p:nvPr>
        </p:nvGraphicFramePr>
        <p:xfrm>
          <a:off x="93785" y="1850900"/>
          <a:ext cx="8733691" cy="1813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66091">
                  <a:extLst>
                    <a:ext uri="{9D8B030D-6E8A-4147-A177-3AD203B41FA5}">
                      <a16:colId xmlns:a16="http://schemas.microsoft.com/office/drawing/2014/main" val="3833142152"/>
                    </a:ext>
                  </a:extLst>
                </a:gridCol>
                <a:gridCol w="1735016">
                  <a:extLst>
                    <a:ext uri="{9D8B030D-6E8A-4147-A177-3AD203B41FA5}">
                      <a16:colId xmlns:a16="http://schemas.microsoft.com/office/drawing/2014/main" val="319792714"/>
                    </a:ext>
                  </a:extLst>
                </a:gridCol>
                <a:gridCol w="1103035">
                  <a:extLst>
                    <a:ext uri="{9D8B030D-6E8A-4147-A177-3AD203B41FA5}">
                      <a16:colId xmlns:a16="http://schemas.microsoft.com/office/drawing/2014/main" val="28849002"/>
                    </a:ext>
                  </a:extLst>
                </a:gridCol>
                <a:gridCol w="1122218">
                  <a:extLst>
                    <a:ext uri="{9D8B030D-6E8A-4147-A177-3AD203B41FA5}">
                      <a16:colId xmlns:a16="http://schemas.microsoft.com/office/drawing/2014/main" val="1632799852"/>
                    </a:ext>
                  </a:extLst>
                </a:gridCol>
                <a:gridCol w="922713">
                  <a:extLst>
                    <a:ext uri="{9D8B030D-6E8A-4147-A177-3AD203B41FA5}">
                      <a16:colId xmlns:a16="http://schemas.microsoft.com/office/drawing/2014/main" val="3865205293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36445983"/>
                    </a:ext>
                  </a:extLst>
                </a:gridCol>
                <a:gridCol w="756458">
                  <a:extLst>
                    <a:ext uri="{9D8B030D-6E8A-4147-A177-3AD203B41FA5}">
                      <a16:colId xmlns:a16="http://schemas.microsoft.com/office/drawing/2014/main" val="958058384"/>
                    </a:ext>
                  </a:extLst>
                </a:gridCol>
                <a:gridCol w="822320">
                  <a:extLst>
                    <a:ext uri="{9D8B030D-6E8A-4147-A177-3AD203B41FA5}">
                      <a16:colId xmlns:a16="http://schemas.microsoft.com/office/drawing/2014/main" val="127174652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Median PaCO2 (IQR)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TcCO2 </a:t>
                      </a:r>
                    </a:p>
                    <a:p>
                      <a:pPr algn="ctr"/>
                      <a:r>
                        <a:rPr lang="en-US" sz="1100" dirty="0"/>
                        <a:t>False Positives </a:t>
                      </a:r>
                      <a:r>
                        <a:rPr lang="en-US" sz="900" dirty="0"/>
                        <a:t>(PaCO2&lt;45 TcCO2&gt;45)</a:t>
                      </a:r>
                      <a:endParaRPr 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TcCO2</a:t>
                      </a:r>
                    </a:p>
                    <a:p>
                      <a:pPr algn="ctr"/>
                      <a:r>
                        <a:rPr lang="en-US" sz="1100" dirty="0"/>
                        <a:t>False Negatives</a:t>
                      </a:r>
                    </a:p>
                    <a:p>
                      <a:pPr algn="ctr"/>
                      <a:r>
                        <a:rPr lang="en-US" sz="900" dirty="0"/>
                        <a:t>(PaCO2&gt;45 TcCO2&gt;45)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TcCO2</a:t>
                      </a:r>
                    </a:p>
                    <a:p>
                      <a:pPr algn="ctr"/>
                      <a:r>
                        <a:rPr lang="en-US" sz="1100" dirty="0"/>
                        <a:t>Sensitivity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TcCO2</a:t>
                      </a:r>
                    </a:p>
                    <a:p>
                      <a:pPr algn="ctr"/>
                      <a:r>
                        <a:rPr lang="en-US" sz="1100" dirty="0"/>
                        <a:t>Specificity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TcCO2</a:t>
                      </a:r>
                    </a:p>
                    <a:p>
                      <a:pPr algn="ctr"/>
                      <a:r>
                        <a:rPr lang="en-US" sz="1100" dirty="0"/>
                        <a:t>PPV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TcCO2</a:t>
                      </a:r>
                    </a:p>
                    <a:p>
                      <a:pPr algn="ctr"/>
                      <a:r>
                        <a:rPr lang="en-US" sz="1100" dirty="0"/>
                        <a:t>NPV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954566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Ambulatory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40.0 (35.7, 45)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3.8%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2.4%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89.8%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94.4%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85.2%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96.3%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377869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Inpatient/ED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40.0 (35, 46)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2.0%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5.1%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82%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97%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91.9%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92.8%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114107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ICU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39.0 (33, 47.2)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3.3%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2.2%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92.6%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94.9%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89.5%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96.5%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51978485"/>
                  </a:ext>
                </a:extLst>
              </a:tr>
            </a:tbl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253896522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7C4464-56C3-3790-F984-B9C5FCC680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065BF2-8DDB-C1A9-9DF9-3D4EDA1182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Results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421DCE3-4D8F-1C04-A08A-E9DABEFC8F4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53604" y="995590"/>
            <a:ext cx="5625140" cy="3750093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22754708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A56CF3-30B9-E606-85E6-6CFA525CFB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692A92-5614-E329-C350-2EEE2E5C26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Results </a:t>
            </a:r>
            <a:br>
              <a:rPr lang="en-US" dirty="0"/>
            </a:br>
            <a:r>
              <a:rPr lang="en-US" sz="2000" b="0" dirty="0"/>
              <a:t>(TcCO2 cutoffs of ≤40 and ≥50)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FDC1730-F0ED-EE65-945F-4609003B500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7002" y="995590"/>
            <a:ext cx="5625140" cy="3750093"/>
          </a:xfrm>
          <a:prstGeom prst="rect">
            <a:avLst/>
          </a:prstGeom>
        </p:spPr>
      </p:pic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106C95DC-C3F8-41E6-5CCD-F21DD62DB37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93337911"/>
              </p:ext>
            </p:extLst>
          </p:nvPr>
        </p:nvGraphicFramePr>
        <p:xfrm>
          <a:off x="5836450" y="1577163"/>
          <a:ext cx="3130060" cy="2428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66091">
                  <a:extLst>
                    <a:ext uri="{9D8B030D-6E8A-4147-A177-3AD203B41FA5}">
                      <a16:colId xmlns:a16="http://schemas.microsoft.com/office/drawing/2014/main" val="3833142152"/>
                    </a:ext>
                  </a:extLst>
                </a:gridCol>
                <a:gridCol w="949569">
                  <a:extLst>
                    <a:ext uri="{9D8B030D-6E8A-4147-A177-3AD203B41FA5}">
                      <a16:colId xmlns:a16="http://schemas.microsoft.com/office/drawing/2014/main" val="28849002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163279985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False Positives if TcCO2 &gt;50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False Negatives</a:t>
                      </a:r>
                    </a:p>
                    <a:p>
                      <a:pPr algn="ctr"/>
                      <a:r>
                        <a:rPr lang="en-US" sz="1400" dirty="0"/>
                        <a:t>if TcCO2 &lt;40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954566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Ambulatory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0.06%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0.00%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377869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Inpatient/ED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0.05%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0.46%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114107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ICU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0.09%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0.06%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51978485"/>
                  </a:ext>
                </a:extLst>
              </a:tr>
              <a:tr h="370840">
                <a:tc gridSpan="3"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Sens/Spec/PPV/NPV all &gt;99%</a:t>
                      </a:r>
                    </a:p>
                  </a:txBody>
                  <a:tcPr>
                    <a:solidFill>
                      <a:srgbClr val="E9ECF5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01300629"/>
                  </a:ext>
                </a:extLst>
              </a:tr>
            </a:tbl>
          </a:graphicData>
        </a:graphic>
      </p:graphicFrame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43CDB3E-2418-39E4-FC2F-64C021FAA09D}"/>
              </a:ext>
            </a:extLst>
          </p:cNvPr>
          <p:cNvCxnSpPr/>
          <p:nvPr/>
        </p:nvCxnSpPr>
        <p:spPr>
          <a:xfrm>
            <a:off x="3843975" y="1403633"/>
            <a:ext cx="0" cy="2813091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03FD358B-BFDE-5A50-5BCE-BE0B5A97AED1}"/>
              </a:ext>
            </a:extLst>
          </p:cNvPr>
          <p:cNvCxnSpPr/>
          <p:nvPr/>
        </p:nvCxnSpPr>
        <p:spPr>
          <a:xfrm>
            <a:off x="2336477" y="1422076"/>
            <a:ext cx="0" cy="2813091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94624CB2-13E2-289D-4042-A128F7BD3A5C}"/>
              </a:ext>
            </a:extLst>
          </p:cNvPr>
          <p:cNvCxnSpPr/>
          <p:nvPr/>
        </p:nvCxnSpPr>
        <p:spPr>
          <a:xfrm>
            <a:off x="3855623" y="1496820"/>
            <a:ext cx="1007587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055768B3-2F73-62EA-3EA0-5883931AED54}"/>
              </a:ext>
            </a:extLst>
          </p:cNvPr>
          <p:cNvCxnSpPr/>
          <p:nvPr/>
        </p:nvCxnSpPr>
        <p:spPr>
          <a:xfrm>
            <a:off x="3856594" y="2534499"/>
            <a:ext cx="1007587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CA06A4A6-AECB-3E15-3EDF-2B5D84444B9F}"/>
              </a:ext>
            </a:extLst>
          </p:cNvPr>
          <p:cNvCxnSpPr/>
          <p:nvPr/>
        </p:nvCxnSpPr>
        <p:spPr>
          <a:xfrm>
            <a:off x="3850769" y="3571208"/>
            <a:ext cx="1007587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14D5B39A-21E8-5FA8-F6C6-7999292A9A34}"/>
              </a:ext>
            </a:extLst>
          </p:cNvPr>
          <p:cNvCxnSpPr>
            <a:cxnSpLocks/>
          </p:cNvCxnSpPr>
          <p:nvPr/>
        </p:nvCxnSpPr>
        <p:spPr>
          <a:xfrm flipH="1">
            <a:off x="1316270" y="3572179"/>
            <a:ext cx="1009529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DEF9AF5E-024B-78B0-2864-DED086883028}"/>
              </a:ext>
            </a:extLst>
          </p:cNvPr>
          <p:cNvCxnSpPr>
            <a:cxnSpLocks/>
          </p:cNvCxnSpPr>
          <p:nvPr/>
        </p:nvCxnSpPr>
        <p:spPr>
          <a:xfrm flipH="1">
            <a:off x="1323065" y="2524793"/>
            <a:ext cx="1009529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32912B54-D70F-43A9-EC7F-CE3CFEFE81E3}"/>
              </a:ext>
            </a:extLst>
          </p:cNvPr>
          <p:cNvCxnSpPr>
            <a:cxnSpLocks/>
          </p:cNvCxnSpPr>
          <p:nvPr/>
        </p:nvCxnSpPr>
        <p:spPr>
          <a:xfrm flipH="1">
            <a:off x="1305593" y="1482260"/>
            <a:ext cx="1009529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4F49C7F1-A13E-A6D2-414E-B045C40403E5}"/>
              </a:ext>
            </a:extLst>
          </p:cNvPr>
          <p:cNvCxnSpPr>
            <a:cxnSpLocks/>
          </p:cNvCxnSpPr>
          <p:nvPr/>
        </p:nvCxnSpPr>
        <p:spPr>
          <a:xfrm flipH="1">
            <a:off x="1328889" y="4190515"/>
            <a:ext cx="1009529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659E1AA7-9675-15E9-FE88-ACD7AACCF136}"/>
              </a:ext>
            </a:extLst>
          </p:cNvPr>
          <p:cNvCxnSpPr/>
          <p:nvPr/>
        </p:nvCxnSpPr>
        <p:spPr>
          <a:xfrm>
            <a:off x="3840091" y="4183720"/>
            <a:ext cx="1007587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06143BAB-8C70-7179-A66E-7FFE2FD8DA32}"/>
              </a:ext>
            </a:extLst>
          </p:cNvPr>
          <p:cNvCxnSpPr/>
          <p:nvPr/>
        </p:nvCxnSpPr>
        <p:spPr>
          <a:xfrm>
            <a:off x="2323857" y="1438578"/>
            <a:ext cx="1520118" cy="739674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FE15A71E-DE5C-8DC8-14D9-32E58D0E6287}"/>
              </a:ext>
            </a:extLst>
          </p:cNvPr>
          <p:cNvCxnSpPr/>
          <p:nvPr/>
        </p:nvCxnSpPr>
        <p:spPr>
          <a:xfrm>
            <a:off x="2324828" y="1561857"/>
            <a:ext cx="1520118" cy="739674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737EDD6E-E264-027A-35EA-7E4D8EF1E235}"/>
              </a:ext>
            </a:extLst>
          </p:cNvPr>
          <p:cNvCxnSpPr/>
          <p:nvPr/>
        </p:nvCxnSpPr>
        <p:spPr>
          <a:xfrm>
            <a:off x="2331622" y="1661839"/>
            <a:ext cx="1520118" cy="739674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8B004EFA-ECA9-486C-0471-878267BE3EFD}"/>
              </a:ext>
            </a:extLst>
          </p:cNvPr>
          <p:cNvCxnSpPr/>
          <p:nvPr/>
        </p:nvCxnSpPr>
        <p:spPr>
          <a:xfrm>
            <a:off x="2332594" y="2996552"/>
            <a:ext cx="1520118" cy="739674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4DC9D044-D885-44D4-5403-EDC2659C9514}"/>
              </a:ext>
            </a:extLst>
          </p:cNvPr>
          <p:cNvCxnSpPr/>
          <p:nvPr/>
        </p:nvCxnSpPr>
        <p:spPr>
          <a:xfrm>
            <a:off x="2327740" y="1756968"/>
            <a:ext cx="1520118" cy="739674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DB5F8CBD-D466-ECD4-C48E-E607FE4E72C3}"/>
              </a:ext>
            </a:extLst>
          </p:cNvPr>
          <p:cNvCxnSpPr/>
          <p:nvPr/>
        </p:nvCxnSpPr>
        <p:spPr>
          <a:xfrm>
            <a:off x="2328710" y="1868599"/>
            <a:ext cx="1520118" cy="739674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95003AAE-2A24-BEB5-EF2B-1820484B9904}"/>
              </a:ext>
            </a:extLst>
          </p:cNvPr>
          <p:cNvCxnSpPr/>
          <p:nvPr/>
        </p:nvCxnSpPr>
        <p:spPr>
          <a:xfrm>
            <a:off x="2329681" y="2865508"/>
            <a:ext cx="1520118" cy="739674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24328741-60B8-4219-9682-692358C3B707}"/>
              </a:ext>
            </a:extLst>
          </p:cNvPr>
          <p:cNvCxnSpPr/>
          <p:nvPr/>
        </p:nvCxnSpPr>
        <p:spPr>
          <a:xfrm>
            <a:off x="2324828" y="1981199"/>
            <a:ext cx="1520118" cy="739674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26E993D7-6347-83B9-D7ED-736F9285CD6F}"/>
              </a:ext>
            </a:extLst>
          </p:cNvPr>
          <p:cNvCxnSpPr/>
          <p:nvPr/>
        </p:nvCxnSpPr>
        <p:spPr>
          <a:xfrm>
            <a:off x="2343271" y="2092831"/>
            <a:ext cx="1520118" cy="739674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3D979EFF-92F6-2E6E-9D5C-B0B640BC93F8}"/>
              </a:ext>
            </a:extLst>
          </p:cNvPr>
          <p:cNvCxnSpPr/>
          <p:nvPr/>
        </p:nvCxnSpPr>
        <p:spPr>
          <a:xfrm>
            <a:off x="2320945" y="2198636"/>
            <a:ext cx="1520118" cy="739674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B32D8833-B2EA-07A3-247D-49234CAF4BDB}"/>
              </a:ext>
            </a:extLst>
          </p:cNvPr>
          <p:cNvCxnSpPr/>
          <p:nvPr/>
        </p:nvCxnSpPr>
        <p:spPr>
          <a:xfrm>
            <a:off x="2321916" y="2310267"/>
            <a:ext cx="1520118" cy="739674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11F7ECF2-45D3-7CD4-B49F-BEA302F7D78A}"/>
              </a:ext>
            </a:extLst>
          </p:cNvPr>
          <p:cNvCxnSpPr/>
          <p:nvPr/>
        </p:nvCxnSpPr>
        <p:spPr>
          <a:xfrm>
            <a:off x="2322886" y="2427722"/>
            <a:ext cx="1520118" cy="739674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8ECC5141-89CA-9665-5DA4-8623EC53A24A}"/>
              </a:ext>
            </a:extLst>
          </p:cNvPr>
          <p:cNvCxnSpPr/>
          <p:nvPr/>
        </p:nvCxnSpPr>
        <p:spPr>
          <a:xfrm>
            <a:off x="2318033" y="2632540"/>
            <a:ext cx="1520118" cy="739674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061EE8D2-9DD8-818C-B998-D83C8995FB25}"/>
              </a:ext>
            </a:extLst>
          </p:cNvPr>
          <p:cNvCxnSpPr/>
          <p:nvPr/>
        </p:nvCxnSpPr>
        <p:spPr>
          <a:xfrm>
            <a:off x="2342301" y="2540323"/>
            <a:ext cx="1520118" cy="739674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0047AE55-31BD-983D-F136-DEFEA4C1E340}"/>
              </a:ext>
            </a:extLst>
          </p:cNvPr>
          <p:cNvCxnSpPr/>
          <p:nvPr/>
        </p:nvCxnSpPr>
        <p:spPr>
          <a:xfrm>
            <a:off x="2319974" y="2745141"/>
            <a:ext cx="1520118" cy="739674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E88C335A-8E2A-0681-25CD-5580FD0F0BE7}"/>
              </a:ext>
            </a:extLst>
          </p:cNvPr>
          <p:cNvCxnSpPr/>
          <p:nvPr/>
        </p:nvCxnSpPr>
        <p:spPr>
          <a:xfrm>
            <a:off x="2321916" y="3119831"/>
            <a:ext cx="1520118" cy="739674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520CFE06-B7F4-6A89-832F-076B8AA1B805}"/>
              </a:ext>
            </a:extLst>
          </p:cNvPr>
          <p:cNvCxnSpPr/>
          <p:nvPr/>
        </p:nvCxnSpPr>
        <p:spPr>
          <a:xfrm>
            <a:off x="2321917" y="3242139"/>
            <a:ext cx="1520118" cy="739674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3AD6CDC2-424F-1B3C-A723-918944C555FB}"/>
              </a:ext>
            </a:extLst>
          </p:cNvPr>
          <p:cNvCxnSpPr/>
          <p:nvPr/>
        </p:nvCxnSpPr>
        <p:spPr>
          <a:xfrm>
            <a:off x="2310268" y="3364447"/>
            <a:ext cx="1520118" cy="739674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B7E0A591-03F6-346A-6608-4903BADC69A4}"/>
              </a:ext>
            </a:extLst>
          </p:cNvPr>
          <p:cNvCxnSpPr/>
          <p:nvPr/>
        </p:nvCxnSpPr>
        <p:spPr>
          <a:xfrm>
            <a:off x="2327740" y="3486756"/>
            <a:ext cx="1520118" cy="739674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D1447202-ED78-8C4A-4FDD-9CD4896BB4AE}"/>
              </a:ext>
            </a:extLst>
          </p:cNvPr>
          <p:cNvCxnSpPr>
            <a:cxnSpLocks/>
          </p:cNvCxnSpPr>
          <p:nvPr/>
        </p:nvCxnSpPr>
        <p:spPr>
          <a:xfrm>
            <a:off x="2351037" y="3626536"/>
            <a:ext cx="1213376" cy="566891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94FFD483-6FDE-B5C4-E9E1-36B3A8887226}"/>
              </a:ext>
            </a:extLst>
          </p:cNvPr>
          <p:cNvCxnSpPr>
            <a:cxnSpLocks/>
          </p:cNvCxnSpPr>
          <p:nvPr/>
        </p:nvCxnSpPr>
        <p:spPr>
          <a:xfrm>
            <a:off x="2334536" y="3726518"/>
            <a:ext cx="1031854" cy="490206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41601D0B-2BC8-70E4-2C35-3775D89A531D}"/>
              </a:ext>
            </a:extLst>
          </p:cNvPr>
          <p:cNvCxnSpPr>
            <a:cxnSpLocks/>
          </p:cNvCxnSpPr>
          <p:nvPr/>
        </p:nvCxnSpPr>
        <p:spPr>
          <a:xfrm>
            <a:off x="2323858" y="3861445"/>
            <a:ext cx="733849" cy="349454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28003F45-30AA-7363-803F-BCC12F8F55D8}"/>
              </a:ext>
            </a:extLst>
          </p:cNvPr>
          <p:cNvCxnSpPr>
            <a:cxnSpLocks/>
          </p:cNvCxnSpPr>
          <p:nvPr/>
        </p:nvCxnSpPr>
        <p:spPr>
          <a:xfrm>
            <a:off x="2631570" y="1431782"/>
            <a:ext cx="1213376" cy="566891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DE05E81B-B80F-A93B-150C-2030E499D55E}"/>
              </a:ext>
            </a:extLst>
          </p:cNvPr>
          <p:cNvCxnSpPr>
            <a:cxnSpLocks/>
          </p:cNvCxnSpPr>
          <p:nvPr/>
        </p:nvCxnSpPr>
        <p:spPr>
          <a:xfrm>
            <a:off x="2906278" y="1450227"/>
            <a:ext cx="931872" cy="442639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FE075743-CB35-4584-1150-695FA95A1CB3}"/>
              </a:ext>
            </a:extLst>
          </p:cNvPr>
          <p:cNvCxnSpPr>
            <a:cxnSpLocks/>
          </p:cNvCxnSpPr>
          <p:nvPr/>
        </p:nvCxnSpPr>
        <p:spPr>
          <a:xfrm>
            <a:off x="3214960" y="1461875"/>
            <a:ext cx="653282" cy="298004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  <p:extLst>
      <p:ext uri="{BB962C8B-B14F-4D97-AF65-F5344CB8AC3E}">
        <p14:creationId xmlns:p14="http://schemas.microsoft.com/office/powerpoint/2010/main" val="227335041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029E5E-5C9C-645C-EAFB-C1915DBD24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F3117A-BBEE-14CC-E569-4BF6626C91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Conclusions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19EACAFD-69E1-1B5B-413E-072E5135CE4B}"/>
              </a:ext>
            </a:extLst>
          </p:cNvPr>
          <p:cNvSpPr txBox="1">
            <a:spLocks/>
          </p:cNvSpPr>
          <p:nvPr/>
        </p:nvSpPr>
        <p:spPr>
          <a:xfrm>
            <a:off x="114559" y="1107688"/>
            <a:ext cx="8486749" cy="3128556"/>
          </a:xfrm>
          <a:prstGeom prst="rect">
            <a:avLst/>
          </a:prstGeom>
        </p:spPr>
        <p:txBody>
          <a:bodyPr/>
          <a:lstStyle>
            <a:lvl1pPr marL="234950" indent="-234950" algn="l" defTabSz="6858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rgbClr val="4698CB"/>
              </a:buClr>
              <a:buFont typeface="Wingdings" pitchFamily="2" charset="2"/>
              <a:buChar char="§"/>
              <a:tabLst/>
              <a:defRPr sz="1800" kern="1200" baseline="0">
                <a:solidFill>
                  <a:srgbClr val="54585A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indent="-222250" algn="l" defTabSz="6858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rgbClr val="4698CB"/>
              </a:buClr>
              <a:buFont typeface="System Font Regular"/>
              <a:buChar char="-"/>
              <a:tabLst/>
              <a:defRPr sz="1800" kern="1200" baseline="0">
                <a:solidFill>
                  <a:srgbClr val="54585A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804863" indent="-288925" algn="l" defTabSz="6858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rgbClr val="4698CB"/>
              </a:buClr>
              <a:buSzPct val="90000"/>
              <a:buFont typeface="Lucida Grande" panose="020B0600040502020204" pitchFamily="34" charset="0"/>
              <a:buChar char="✓"/>
              <a:tabLst/>
              <a:defRPr sz="1800" kern="1200" baseline="0">
                <a:solidFill>
                  <a:srgbClr val="54585A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2400" kern="1200">
                <a:solidFill>
                  <a:srgbClr val="54585A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2400" kern="1200">
                <a:solidFill>
                  <a:srgbClr val="54585A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High degree of accuracy in TcCO2 for binary assessment of hypercapnia is preserved across multiple different clinical settings. </a:t>
            </a:r>
          </a:p>
          <a:p>
            <a:pPr lvl="1"/>
            <a:r>
              <a:rPr lang="en-US" dirty="0"/>
              <a:t>Very good accuracy if using cutoffs of ≤40 and ≥50.</a:t>
            </a:r>
          </a:p>
          <a:p>
            <a:r>
              <a:rPr lang="en-US" dirty="0"/>
              <a:t>Greatest amount of inaccuracy = false negative rate for emergency and non-ICU inpatients (5.1%)</a:t>
            </a:r>
          </a:p>
          <a:p>
            <a:r>
              <a:rPr lang="en-US" dirty="0"/>
              <a:t>Limitations: </a:t>
            </a:r>
          </a:p>
          <a:p>
            <a:pPr lvl="1"/>
            <a:r>
              <a:rPr lang="en-US" dirty="0"/>
              <a:t>Patients who have sampling of their PaCO2 may have more extreme derangements than those who do not undergo sampling</a:t>
            </a:r>
          </a:p>
          <a:p>
            <a:pPr lvl="1"/>
            <a:r>
              <a:rPr lang="en-US" dirty="0"/>
              <a:t>Inability to separate emergency department patients from non-ICU hospitalized patients given the nature of the data available from the meta-analysis used.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03850690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5E0C8A-2746-494F-8C1B-CF6E8E274C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1" y="2005134"/>
            <a:ext cx="8496300" cy="1133232"/>
          </a:xfrm>
        </p:spPr>
        <p:txBody>
          <a:bodyPr>
            <a:normAutofit fontScale="90000"/>
          </a:bodyPr>
          <a:lstStyle/>
          <a:p>
            <a:r>
              <a:rPr lang="en-US" dirty="0"/>
              <a:t>Thank You!</a:t>
            </a:r>
            <a:br>
              <a:rPr lang="en-US" dirty="0"/>
            </a:br>
            <a:br>
              <a:rPr lang="en-US" dirty="0"/>
            </a:br>
            <a:r>
              <a:rPr lang="en-US" dirty="0"/>
              <a:t>Don’t forget to evaluate this session in the app.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272650129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COUNT" val="11"/>
  <p:tag name="ARTICULATE_PROJECT_OPEN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4" id="{0DE46785-976E-6D4C-A1D0-EA09DC52AF8A}" vid="{214969C1-569A-1D4C-BD36-02B05436AAA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12159</TotalTime>
  <Words>747</Words>
  <Application>Microsoft Macintosh PowerPoint</Application>
  <PresentationFormat>On-screen Show (16:9)</PresentationFormat>
  <Paragraphs>124</Paragraphs>
  <Slides>13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1" baseType="lpstr">
      <vt:lpstr>Arial</vt:lpstr>
      <vt:lpstr>Calibri</vt:lpstr>
      <vt:lpstr>Lucida Grande</vt:lpstr>
      <vt:lpstr>System Font Regular</vt:lpstr>
      <vt:lpstr>Times</vt:lpstr>
      <vt:lpstr>Verdana</vt:lpstr>
      <vt:lpstr>Wingdings</vt:lpstr>
      <vt:lpstr>Office Theme</vt:lpstr>
      <vt:lpstr>Session 482 - Strategies to Improve Care for Advanced Chronic Respiratory Diseases   SIMULATION SUGGESTS TRANSCUTANEOUS CO2 SENSORS MAY ACCURATELY DETECT HYPERCAPNIA ACROSS SETTINGS</vt:lpstr>
      <vt:lpstr>Dustin Anderson-Bell, MD  </vt:lpstr>
      <vt:lpstr>Financial Disclosure</vt:lpstr>
      <vt:lpstr>Lesson Objectives</vt:lpstr>
      <vt:lpstr>Background</vt:lpstr>
      <vt:lpstr>TcCO2</vt:lpstr>
      <vt:lpstr>Aim of current analysis</vt:lpstr>
      <vt:lpstr>Methods</vt:lpstr>
      <vt:lpstr>Results</vt:lpstr>
      <vt:lpstr>Results</vt:lpstr>
      <vt:lpstr>Results  (TcCO2 cutoffs of ≤40 and ≥50)</vt:lpstr>
      <vt:lpstr>Conclusions</vt:lpstr>
      <vt:lpstr>Thank You!  Don’t forget to evaluate this session in the app.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Claudia Egresits</dc:creator>
  <cp:lastModifiedBy>Brian Locke</cp:lastModifiedBy>
  <cp:revision>298</cp:revision>
  <dcterms:created xsi:type="dcterms:W3CDTF">2019-04-08T16:27:28Z</dcterms:created>
  <dcterms:modified xsi:type="dcterms:W3CDTF">2025-10-13T22:13:27Z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rticulateGUID">
    <vt:lpwstr>A0333BCB-6BD8-4D28-9501-F6B021A42642</vt:lpwstr>
  </property>
  <property fmtid="{D5CDD505-2E9C-101B-9397-08002B2CF9AE}" pid="3" name="ArticulatePath">
    <vt:lpwstr>16x9 CHEST Master Template_2021 LIGHT</vt:lpwstr>
  </property>
</Properties>
</file>